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64" r:id="rId5"/>
    <p:sldId id="259" r:id="rId6"/>
    <p:sldId id="260" r:id="rId7"/>
    <p:sldId id="265" r:id="rId8"/>
    <p:sldId id="266" r:id="rId9"/>
    <p:sldId id="267" r:id="rId10"/>
    <p:sldId id="268" r:id="rId11"/>
    <p:sldId id="269" r:id="rId12"/>
    <p:sldId id="270"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698" autoAdjust="0"/>
    <p:restoredTop sz="66592"/>
  </p:normalViewPr>
  <p:slideViewPr>
    <p:cSldViewPr>
      <p:cViewPr varScale="1">
        <p:scale>
          <a:sx n="102" d="100"/>
          <a:sy n="102" d="100"/>
        </p:scale>
        <p:origin x="504" y="1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rtlCol="0"/>
          <a:lstStyle>
            <a:lvl1pPr algn="r">
              <a:defRPr sz="1200"/>
            </a:lvl1pPr>
          </a:lstStyle>
          <a:p>
            <a:fld id="{925A17EF-115B-4BB9-BF42-426DFD9E898A}" type="datetimeFigureOut">
              <a:rPr lang="en-US" smtClean="0"/>
              <a:pPr/>
              <a:t>11/30/25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rtlCol="0" anchor="b"/>
          <a:lstStyle>
            <a:lvl1pPr algn="r">
              <a:defRPr sz="1200"/>
            </a:lvl1pPr>
          </a:lstStyle>
          <a:p>
            <a:fld id="{7C4E7652-46AF-4259-BAE2-54978EA077CD}"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rtl="0">
      <a:defRPr sz="1200" kern="1200">
        <a:solidFill>
          <a:schemeClr val="tx1"/>
        </a:solidFill>
        <a:latin typeface="+mn-lt"/>
        <a:ea typeface="+mn-ea"/>
        <a:cs typeface="+mn-cs"/>
      </a:defRPr>
    </a:lvl1pPr>
    <a:lvl2pPr marL="457200" algn="l" rtl="0">
      <a:defRPr sz="1200" kern="1200">
        <a:solidFill>
          <a:schemeClr val="tx1"/>
        </a:solidFill>
        <a:latin typeface="+mn-lt"/>
        <a:ea typeface="+mn-ea"/>
        <a:cs typeface="+mn-cs"/>
      </a:defRPr>
    </a:lvl2pPr>
    <a:lvl3pPr marL="914400" algn="l" rtl="0">
      <a:defRPr sz="1200" kern="1200">
        <a:solidFill>
          <a:schemeClr val="tx1"/>
        </a:solidFill>
        <a:latin typeface="+mn-lt"/>
        <a:ea typeface="+mn-ea"/>
        <a:cs typeface="+mn-cs"/>
      </a:defRPr>
    </a:lvl3pPr>
    <a:lvl4pPr marL="1371600" algn="l" rtl="0">
      <a:defRPr sz="1200" kern="1200">
        <a:solidFill>
          <a:schemeClr val="tx1"/>
        </a:solidFill>
        <a:latin typeface="+mn-lt"/>
        <a:ea typeface="+mn-ea"/>
        <a:cs typeface="+mn-cs"/>
      </a:defRPr>
    </a:lvl4pPr>
    <a:lvl5pPr marL="1828800" algn="l" rtl="0">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C4E7652-46AF-4259-BAE2-54978EA077CD}"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C4E7652-46AF-4259-BAE2-54978EA077CD}"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Schema2Script is our end-to-end tool that takes JSON or XML schemas and turns them into SQL DDL scripts. We support three major DBMS systems. The whole project is built around a unified </a:t>
            </a:r>
            <a:r>
              <a:rPr lang="en-US" sz="1200" kern="1200" dirty="0" err="1">
                <a:solidFill>
                  <a:schemeClr val="tx1"/>
                </a:solidFill>
                <a:effectLst/>
                <a:latin typeface="+mn-lt"/>
                <a:ea typeface="+mn-ea"/>
                <a:cs typeface="+mn-cs"/>
              </a:rPr>
              <a:t>SchemaModel</a:t>
            </a:r>
            <a:r>
              <a:rPr lang="en-US" sz="1200" kern="1200" dirty="0">
                <a:solidFill>
                  <a:schemeClr val="tx1"/>
                </a:solidFill>
                <a:effectLst/>
                <a:latin typeface="+mn-lt"/>
                <a:ea typeface="+mn-ea"/>
                <a:cs typeface="+mn-cs"/>
              </a:rPr>
              <a:t> and factories for both parsers and SQL generators, which makes the architecture easy to extend.</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Milestone 3, we introduced the GUI — users can upload a file, visually inspect and edit the schema, and then instantly generate SQL based on those changes. The output updates in real time and also gets saved automatically inside the project directory.</a:t>
            </a:r>
          </a:p>
          <a:p>
            <a:endParaRPr lang="en-US" dirty="0"/>
          </a:p>
        </p:txBody>
      </p:sp>
      <p:sp>
        <p:nvSpPr>
          <p:cNvPr id="4" name="Slide Number Placeholder 3"/>
          <p:cNvSpPr>
            <a:spLocks noGrp="1"/>
          </p:cNvSpPr>
          <p:nvPr>
            <p:ph type="sldNum" sz="quarter" idx="5"/>
          </p:nvPr>
        </p:nvSpPr>
        <p:spPr/>
        <p:txBody>
          <a:bodyPr/>
          <a:lstStyle/>
          <a:p>
            <a:fld id="{7C4E7652-46AF-4259-BAE2-54978EA077CD}" type="slidenum">
              <a:rPr lang="en-US" smtClean="0"/>
              <a:pPr/>
              <a:t>3</a:t>
            </a:fld>
            <a:endParaRPr lang="en-US"/>
          </a:p>
        </p:txBody>
      </p:sp>
    </p:spTree>
    <p:extLst>
      <p:ext uri="{BB962C8B-B14F-4D97-AF65-F5344CB8AC3E}">
        <p14:creationId xmlns:p14="http://schemas.microsoft.com/office/powerpoint/2010/main" val="41802559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4E7652-46AF-4259-BAE2-54978EA077CD}" type="slidenum">
              <a:rPr lang="en-US" smtClean="0"/>
              <a:pPr/>
              <a:t>4</a:t>
            </a:fld>
            <a:endParaRPr lang="en-US"/>
          </a:p>
        </p:txBody>
      </p:sp>
    </p:spTree>
    <p:extLst>
      <p:ext uri="{BB962C8B-B14F-4D97-AF65-F5344CB8AC3E}">
        <p14:creationId xmlns:p14="http://schemas.microsoft.com/office/powerpoint/2010/main" val="15636433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For the input side, our system uses a shared </a:t>
            </a:r>
            <a:r>
              <a:rPr lang="en-US" sz="1200" kern="1200" dirty="0" err="1">
                <a:solidFill>
                  <a:schemeClr val="tx1"/>
                </a:solidFill>
                <a:effectLst/>
                <a:latin typeface="+mn-lt"/>
                <a:ea typeface="+mn-ea"/>
                <a:cs typeface="+mn-cs"/>
              </a:rPr>
              <a:t>SchemaParser</a:t>
            </a:r>
            <a:r>
              <a:rPr lang="en-US" sz="1200" kern="1200" dirty="0">
                <a:solidFill>
                  <a:schemeClr val="tx1"/>
                </a:solidFill>
                <a:effectLst/>
                <a:latin typeface="+mn-lt"/>
                <a:ea typeface="+mn-ea"/>
                <a:cs typeface="+mn-cs"/>
              </a:rPr>
              <a:t> interface that both XML and JSON parsers implement.</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When the user uploads a file, the controller sends the file type to the </a:t>
            </a:r>
            <a:r>
              <a:rPr lang="en-US" sz="1200" kern="1200" dirty="0" err="1">
                <a:solidFill>
                  <a:schemeClr val="tx1"/>
                </a:solidFill>
                <a:effectLst/>
                <a:latin typeface="+mn-lt"/>
                <a:ea typeface="+mn-ea"/>
                <a:cs typeface="+mn-cs"/>
              </a:rPr>
              <a:t>ParserFactory</a:t>
            </a:r>
            <a:r>
              <a:rPr lang="en-US" sz="1200" kern="1200" dirty="0">
                <a:solidFill>
                  <a:schemeClr val="tx1"/>
                </a:solidFill>
                <a:effectLst/>
                <a:latin typeface="+mn-lt"/>
                <a:ea typeface="+mn-ea"/>
                <a:cs typeface="+mn-cs"/>
              </a:rPr>
              <a:t>, which selects the correct parser automatically. Both parsers output the same </a:t>
            </a:r>
            <a:r>
              <a:rPr lang="en-US" sz="1200" kern="1200" dirty="0" err="1">
                <a:solidFill>
                  <a:schemeClr val="tx1"/>
                </a:solidFill>
                <a:effectLst/>
                <a:latin typeface="+mn-lt"/>
                <a:ea typeface="+mn-ea"/>
                <a:cs typeface="+mn-cs"/>
              </a:rPr>
              <a:t>SchemaModel</a:t>
            </a:r>
            <a:r>
              <a:rPr lang="en-US" sz="1200" kern="1200" dirty="0">
                <a:solidFill>
                  <a:schemeClr val="tx1"/>
                </a:solidFill>
                <a:effectLst/>
                <a:latin typeface="+mn-lt"/>
                <a:ea typeface="+mn-ea"/>
                <a:cs typeface="+mn-cs"/>
              </a:rPr>
              <a:t>, which standardizes the schema no matter the input format.</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controller then returns this model to the GUI, where the user can visually inspect and edit the schema. This keeps the parsing logic clean, extendable, and fully separated from the UI.</a:t>
            </a:r>
          </a:p>
          <a:p>
            <a:endParaRPr lang="en-US" dirty="0"/>
          </a:p>
        </p:txBody>
      </p:sp>
      <p:sp>
        <p:nvSpPr>
          <p:cNvPr id="4" name="Slide Number Placeholder 3"/>
          <p:cNvSpPr>
            <a:spLocks noGrp="1"/>
          </p:cNvSpPr>
          <p:nvPr>
            <p:ph type="sldNum" sz="quarter" idx="5"/>
          </p:nvPr>
        </p:nvSpPr>
        <p:spPr/>
        <p:txBody>
          <a:bodyPr/>
          <a:lstStyle/>
          <a:p>
            <a:fld id="{7C4E7652-46AF-4259-BAE2-54978EA077CD}" type="slidenum">
              <a:rPr lang="en-US" smtClean="0"/>
              <a:pPr/>
              <a:t>5</a:t>
            </a:fld>
            <a:endParaRPr lang="en-US"/>
          </a:p>
        </p:txBody>
      </p:sp>
    </p:spTree>
    <p:extLst>
      <p:ext uri="{BB962C8B-B14F-4D97-AF65-F5344CB8AC3E}">
        <p14:creationId xmlns:p14="http://schemas.microsoft.com/office/powerpoint/2010/main" val="33886180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On the output side, SQL generation is abstracted through the </a:t>
            </a:r>
            <a:r>
              <a:rPr lang="en-US" sz="1200" kern="1200" dirty="0" err="1">
                <a:solidFill>
                  <a:schemeClr val="tx1"/>
                </a:solidFill>
                <a:effectLst/>
                <a:latin typeface="+mn-lt"/>
                <a:ea typeface="+mn-ea"/>
                <a:cs typeface="+mn-cs"/>
              </a:rPr>
              <a:t>SqlGenerator</a:t>
            </a:r>
            <a:r>
              <a:rPr lang="en-US" sz="1200" kern="1200" dirty="0">
                <a:solidFill>
                  <a:schemeClr val="tx1"/>
                </a:solidFill>
                <a:effectLst/>
                <a:latin typeface="+mn-lt"/>
                <a:ea typeface="+mn-ea"/>
                <a:cs typeface="+mn-cs"/>
              </a:rPr>
              <a:t> interface.</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When the user picks a target DBMS in the GUI, the controller uses the </a:t>
            </a:r>
            <a:r>
              <a:rPr lang="en-US" sz="1200" kern="1200" dirty="0" err="1">
                <a:solidFill>
                  <a:schemeClr val="tx1"/>
                </a:solidFill>
                <a:effectLst/>
                <a:latin typeface="+mn-lt"/>
                <a:ea typeface="+mn-ea"/>
                <a:cs typeface="+mn-cs"/>
              </a:rPr>
              <a:t>SqlGeneratorFactory</a:t>
            </a:r>
            <a:r>
              <a:rPr lang="en-US" sz="1200" kern="1200" dirty="0">
                <a:solidFill>
                  <a:schemeClr val="tx1"/>
                </a:solidFill>
                <a:effectLst/>
                <a:latin typeface="+mn-lt"/>
                <a:ea typeface="+mn-ea"/>
                <a:cs typeface="+mn-cs"/>
              </a:rPr>
              <a:t> to select the correct generator — MySQL, PostgreSQL, or Oracle.</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Each generator takes the unified </a:t>
            </a:r>
            <a:r>
              <a:rPr lang="en-US" sz="1200" kern="1200" dirty="0" err="1">
                <a:solidFill>
                  <a:schemeClr val="tx1"/>
                </a:solidFill>
                <a:effectLst/>
                <a:latin typeface="+mn-lt"/>
                <a:ea typeface="+mn-ea"/>
                <a:cs typeface="+mn-cs"/>
              </a:rPr>
              <a:t>SchemaModel</a:t>
            </a:r>
            <a:r>
              <a:rPr lang="en-US" sz="1200" kern="1200" dirty="0">
                <a:solidFill>
                  <a:schemeClr val="tx1"/>
                </a:solidFill>
                <a:effectLst/>
                <a:latin typeface="+mn-lt"/>
                <a:ea typeface="+mn-ea"/>
                <a:cs typeface="+mn-cs"/>
              </a:rPr>
              <a:t> and converts it into valid DDL statements. The SQL script appears instantly in the interface, and we also save it automatically to target/generated/</a:t>
            </a:r>
            <a:r>
              <a:rPr lang="en-US" sz="1200" kern="1200" dirty="0" err="1">
                <a:solidFill>
                  <a:schemeClr val="tx1"/>
                </a:solidFill>
                <a:effectLst/>
                <a:latin typeface="+mn-lt"/>
                <a:ea typeface="+mn-ea"/>
                <a:cs typeface="+mn-cs"/>
              </a:rPr>
              <a:t>schema.sql</a:t>
            </a:r>
            <a:r>
              <a:rPr lang="en-US" sz="1200" kern="1200" dirty="0">
                <a:solidFill>
                  <a:schemeClr val="tx1"/>
                </a:solidFill>
                <a:effectLst/>
                <a:latin typeface="+mn-lt"/>
                <a:ea typeface="+mn-ea"/>
                <a:cs typeface="+mn-cs"/>
              </a:rPr>
              <a:t>.</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This output architecture is extremely flexible; adding a new database type only requires writing a new generator implementation.</a:t>
            </a:r>
          </a:p>
          <a:p>
            <a:endParaRPr lang="en-US" dirty="0"/>
          </a:p>
        </p:txBody>
      </p:sp>
      <p:sp>
        <p:nvSpPr>
          <p:cNvPr id="4" name="Slide Number Placeholder 3"/>
          <p:cNvSpPr>
            <a:spLocks noGrp="1"/>
          </p:cNvSpPr>
          <p:nvPr>
            <p:ph type="sldNum" sz="quarter" idx="5"/>
          </p:nvPr>
        </p:nvSpPr>
        <p:spPr/>
        <p:txBody>
          <a:bodyPr/>
          <a:lstStyle/>
          <a:p>
            <a:fld id="{7C4E7652-46AF-4259-BAE2-54978EA077CD}" type="slidenum">
              <a:rPr lang="en-US" smtClean="0"/>
              <a:pPr/>
              <a:t>6</a:t>
            </a:fld>
            <a:endParaRPr lang="en-US"/>
          </a:p>
        </p:txBody>
      </p:sp>
    </p:spTree>
    <p:extLst>
      <p:ext uri="{BB962C8B-B14F-4D97-AF65-F5344CB8AC3E}">
        <p14:creationId xmlns:p14="http://schemas.microsoft.com/office/powerpoint/2010/main" val="35441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r>
              <a:rPr lang="en-US" sz="1200" kern="1200" dirty="0">
                <a:solidFill>
                  <a:schemeClr val="tx1"/>
                </a:solidFill>
                <a:effectLst/>
                <a:latin typeface="+mn-lt"/>
                <a:ea typeface="+mn-ea"/>
                <a:cs typeface="+mn-cs"/>
              </a:rPr>
              <a:t>This class diagram shows the full architecture of the Schema2Script application, covering both the input and output sides of the system.</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At the center we have the </a:t>
            </a:r>
            <a:r>
              <a:rPr lang="en-US" sz="1200" b="1" kern="1200" dirty="0" err="1">
                <a:solidFill>
                  <a:schemeClr val="tx1"/>
                </a:solidFill>
                <a:effectLst/>
                <a:latin typeface="+mn-lt"/>
                <a:ea typeface="+mn-ea"/>
                <a:cs typeface="+mn-cs"/>
              </a:rPr>
              <a:t>SchemaController</a:t>
            </a:r>
            <a:r>
              <a:rPr lang="en-US" sz="1200" kern="1200" dirty="0">
                <a:solidFill>
                  <a:schemeClr val="tx1"/>
                </a:solidFill>
                <a:effectLst/>
                <a:latin typeface="+mn-lt"/>
                <a:ea typeface="+mn-ea"/>
                <a:cs typeface="+mn-cs"/>
              </a:rPr>
              <a:t>, which coordinates all major operations. It communicates with the view layer, manages the </a:t>
            </a:r>
            <a:r>
              <a:rPr lang="en-US" sz="1200" kern="1200" dirty="0" err="1">
                <a:solidFill>
                  <a:schemeClr val="tx1"/>
                </a:solidFill>
                <a:effectLst/>
                <a:latin typeface="+mn-lt"/>
                <a:ea typeface="+mn-ea"/>
                <a:cs typeface="+mn-cs"/>
              </a:rPr>
              <a:t>SchemaModel</a:t>
            </a:r>
            <a:r>
              <a:rPr lang="en-US" sz="1200" kern="1200" dirty="0">
                <a:solidFill>
                  <a:schemeClr val="tx1"/>
                </a:solidFill>
                <a:effectLst/>
                <a:latin typeface="+mn-lt"/>
                <a:ea typeface="+mn-ea"/>
                <a:cs typeface="+mn-cs"/>
              </a:rPr>
              <a:t>, and delegates parsing and SQL generation to their respective factories.</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On the input side, we have the </a:t>
            </a:r>
            <a:r>
              <a:rPr lang="en-US" sz="1200" b="1" kern="1200" dirty="0" err="1">
                <a:solidFill>
                  <a:schemeClr val="tx1"/>
                </a:solidFill>
                <a:effectLst/>
                <a:latin typeface="+mn-lt"/>
                <a:ea typeface="+mn-ea"/>
                <a:cs typeface="+mn-cs"/>
              </a:rPr>
              <a:t>SchemaParser</a:t>
            </a:r>
            <a:r>
              <a:rPr lang="en-US" sz="1200" kern="1200" dirty="0">
                <a:solidFill>
                  <a:schemeClr val="tx1"/>
                </a:solidFill>
                <a:effectLst/>
                <a:latin typeface="+mn-lt"/>
                <a:ea typeface="+mn-ea"/>
                <a:cs typeface="+mn-cs"/>
              </a:rPr>
              <a:t> interface with two implementations: </a:t>
            </a:r>
            <a:r>
              <a:rPr lang="en-US" sz="1200" kern="1200" dirty="0" err="1">
                <a:solidFill>
                  <a:schemeClr val="tx1"/>
                </a:solidFill>
                <a:effectLst/>
                <a:latin typeface="+mn-lt"/>
                <a:ea typeface="+mn-ea"/>
                <a:cs typeface="+mn-cs"/>
              </a:rPr>
              <a:t>JsonSchemaParser</a:t>
            </a:r>
            <a:r>
              <a:rPr lang="en-US" sz="1200" kern="1200" dirty="0">
                <a:solidFill>
                  <a:schemeClr val="tx1"/>
                </a:solidFill>
                <a:effectLst/>
                <a:latin typeface="+mn-lt"/>
                <a:ea typeface="+mn-ea"/>
                <a:cs typeface="+mn-cs"/>
              </a:rPr>
              <a:t> and </a:t>
            </a:r>
            <a:r>
              <a:rPr lang="en-US" sz="1200" kern="1200" dirty="0" err="1">
                <a:solidFill>
                  <a:schemeClr val="tx1"/>
                </a:solidFill>
                <a:effectLst/>
                <a:latin typeface="+mn-lt"/>
                <a:ea typeface="+mn-ea"/>
                <a:cs typeface="+mn-cs"/>
              </a:rPr>
              <a:t>XmlSchemaParser</a:t>
            </a:r>
            <a:r>
              <a:rPr lang="en-US" sz="1200" kern="1200" dirty="0">
                <a:solidFill>
                  <a:schemeClr val="tx1"/>
                </a:solidFill>
                <a:effectLst/>
                <a:latin typeface="+mn-lt"/>
                <a:ea typeface="+mn-ea"/>
                <a:cs typeface="+mn-cs"/>
              </a:rPr>
              <a:t>. These classes are selected using the </a:t>
            </a:r>
            <a:r>
              <a:rPr lang="en-US" sz="1200" kern="1200" dirty="0" err="1">
                <a:solidFill>
                  <a:schemeClr val="tx1"/>
                </a:solidFill>
                <a:effectLst/>
                <a:latin typeface="+mn-lt"/>
                <a:ea typeface="+mn-ea"/>
                <a:cs typeface="+mn-cs"/>
              </a:rPr>
              <a:t>ParserFactory</a:t>
            </a:r>
            <a:r>
              <a:rPr lang="en-US" sz="1200" kern="1200" dirty="0">
                <a:solidFill>
                  <a:schemeClr val="tx1"/>
                </a:solidFill>
                <a:effectLst/>
                <a:latin typeface="+mn-lt"/>
                <a:ea typeface="+mn-ea"/>
                <a:cs typeface="+mn-cs"/>
              </a:rPr>
              <a:t>, and both produce the unified </a:t>
            </a:r>
            <a:r>
              <a:rPr lang="en-US" sz="1200" kern="1200" dirty="0" err="1">
                <a:solidFill>
                  <a:schemeClr val="tx1"/>
                </a:solidFill>
                <a:effectLst/>
                <a:latin typeface="+mn-lt"/>
                <a:ea typeface="+mn-ea"/>
                <a:cs typeface="+mn-cs"/>
              </a:rPr>
              <a:t>SchemaModel</a:t>
            </a:r>
            <a:r>
              <a:rPr lang="en-US" sz="1200" kern="1200" dirty="0">
                <a:solidFill>
                  <a:schemeClr val="tx1"/>
                </a:solidFill>
                <a:effectLst/>
                <a:latin typeface="+mn-lt"/>
                <a:ea typeface="+mn-ea"/>
                <a:cs typeface="+mn-cs"/>
              </a:rPr>
              <a:t>, which stores tables, columns, data types, and relationships.</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On the output side, the </a:t>
            </a:r>
            <a:r>
              <a:rPr lang="en-US" sz="1200" b="1" kern="1200" dirty="0" err="1">
                <a:solidFill>
                  <a:schemeClr val="tx1"/>
                </a:solidFill>
                <a:effectLst/>
                <a:latin typeface="+mn-lt"/>
                <a:ea typeface="+mn-ea"/>
                <a:cs typeface="+mn-cs"/>
              </a:rPr>
              <a:t>SqlGenerator</a:t>
            </a:r>
            <a:r>
              <a:rPr lang="en-US" sz="1200" kern="1200" dirty="0">
                <a:solidFill>
                  <a:schemeClr val="tx1"/>
                </a:solidFill>
                <a:effectLst/>
                <a:latin typeface="+mn-lt"/>
                <a:ea typeface="+mn-ea"/>
                <a:cs typeface="+mn-cs"/>
              </a:rPr>
              <a:t> interface defines how SQL scripts are produced. The </a:t>
            </a:r>
            <a:r>
              <a:rPr lang="en-US" sz="1200" kern="1200" dirty="0" err="1">
                <a:solidFill>
                  <a:schemeClr val="tx1"/>
                </a:solidFill>
                <a:effectLst/>
                <a:latin typeface="+mn-lt"/>
                <a:ea typeface="+mn-ea"/>
                <a:cs typeface="+mn-cs"/>
              </a:rPr>
              <a:t>SqlGeneratorFactory</a:t>
            </a:r>
            <a:r>
              <a:rPr lang="en-US" sz="1200" kern="1200" dirty="0">
                <a:solidFill>
                  <a:schemeClr val="tx1"/>
                </a:solidFill>
                <a:effectLst/>
                <a:latin typeface="+mn-lt"/>
                <a:ea typeface="+mn-ea"/>
                <a:cs typeface="+mn-cs"/>
              </a:rPr>
              <a:t> selects the correct concrete generator — MySQL, PostgreSQL, or Oracle. Each generator converts the same </a:t>
            </a:r>
            <a:r>
              <a:rPr lang="en-US" sz="1200" kern="1200" dirty="0" err="1">
                <a:solidFill>
                  <a:schemeClr val="tx1"/>
                </a:solidFill>
                <a:effectLst/>
                <a:latin typeface="+mn-lt"/>
                <a:ea typeface="+mn-ea"/>
                <a:cs typeface="+mn-cs"/>
              </a:rPr>
              <a:t>SchemaModel</a:t>
            </a:r>
            <a:r>
              <a:rPr lang="en-US" sz="1200" kern="1200" dirty="0">
                <a:solidFill>
                  <a:schemeClr val="tx1"/>
                </a:solidFill>
                <a:effectLst/>
                <a:latin typeface="+mn-lt"/>
                <a:ea typeface="+mn-ea"/>
                <a:cs typeface="+mn-cs"/>
              </a:rPr>
              <a:t> into valid DDL syntax for its target database.</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diagram also includes the full Swing GUI layer: </a:t>
            </a:r>
            <a:r>
              <a:rPr lang="en-US" sz="1200" kern="1200" dirty="0" err="1">
                <a:solidFill>
                  <a:schemeClr val="tx1"/>
                </a:solidFill>
                <a:effectLst/>
                <a:latin typeface="+mn-lt"/>
                <a:ea typeface="+mn-ea"/>
                <a:cs typeface="+mn-cs"/>
              </a:rPr>
              <a:t>SchemaFrame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SchemaSwingView</a:t>
            </a:r>
            <a:r>
              <a:rPr lang="en-US" sz="1200" kern="1200" dirty="0">
                <a:solidFill>
                  <a:schemeClr val="tx1"/>
                </a:solidFill>
                <a:effectLst/>
                <a:latin typeface="+mn-lt"/>
                <a:ea typeface="+mn-ea"/>
                <a:cs typeface="+mn-cs"/>
              </a:rPr>
              <a:t>, and </a:t>
            </a:r>
            <a:r>
              <a:rPr lang="en-US" sz="1200" kern="1200" dirty="0" err="1">
                <a:solidFill>
                  <a:schemeClr val="tx1"/>
                </a:solidFill>
                <a:effectLst/>
                <a:latin typeface="+mn-lt"/>
                <a:ea typeface="+mn-ea"/>
                <a:cs typeface="+mn-cs"/>
              </a:rPr>
              <a:t>SchemaPreviewPanel</a:t>
            </a:r>
            <a:r>
              <a:rPr lang="en-US" sz="1200" kern="1200" dirty="0">
                <a:solidFill>
                  <a:schemeClr val="tx1"/>
                </a:solidFill>
                <a:effectLst/>
                <a:latin typeface="+mn-lt"/>
                <a:ea typeface="+mn-ea"/>
                <a:cs typeface="+mn-cs"/>
              </a:rPr>
              <a:t>. These components handle file uploads, schema visualization, user edits, DBMS selection, and displaying the final SQL output.</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Overall, the diagram highlights a clean separation of concerns: parsers handle input, generators handle output, the controller coordinates the logic, and the view manages user interaction. The architecture is highly modular and easy to extend — adding a new parser or a new database type only requires creating another implementation of the corresponding interface.</a:t>
            </a:r>
          </a:p>
          <a:p>
            <a:endParaRPr lang="en-US" dirty="0"/>
          </a:p>
        </p:txBody>
      </p:sp>
      <p:sp>
        <p:nvSpPr>
          <p:cNvPr id="4" name="Slide Number Placeholder 3"/>
          <p:cNvSpPr>
            <a:spLocks noGrp="1"/>
          </p:cNvSpPr>
          <p:nvPr>
            <p:ph type="sldNum" sz="quarter" idx="5"/>
          </p:nvPr>
        </p:nvSpPr>
        <p:spPr/>
        <p:txBody>
          <a:bodyPr/>
          <a:lstStyle/>
          <a:p>
            <a:fld id="{7C4E7652-46AF-4259-BAE2-54978EA077CD}" type="slidenum">
              <a:rPr lang="en-US" smtClean="0"/>
              <a:pPr/>
              <a:t>7</a:t>
            </a:fld>
            <a:endParaRPr lang="en-US"/>
          </a:p>
        </p:txBody>
      </p:sp>
    </p:spTree>
    <p:extLst>
      <p:ext uri="{BB962C8B-B14F-4D97-AF65-F5344CB8AC3E}">
        <p14:creationId xmlns:p14="http://schemas.microsoft.com/office/powerpoint/2010/main" val="16494061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kern="1200" dirty="0">
                <a:solidFill>
                  <a:schemeClr val="tx1"/>
                </a:solidFill>
                <a:effectLst/>
                <a:latin typeface="+mn-lt"/>
                <a:ea typeface="+mn-ea"/>
                <a:cs typeface="+mn-cs"/>
              </a:rPr>
              <a:t>This sequence diagram shows the full workflow of generating the SQL script after the user edits the schema in the GUI.</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It starts when the user clicks </a:t>
            </a:r>
            <a:r>
              <a:rPr lang="en-US" sz="1200" i="1" kern="1200" dirty="0">
                <a:solidFill>
                  <a:schemeClr val="tx1"/>
                </a:solidFill>
                <a:effectLst/>
                <a:latin typeface="+mn-lt"/>
                <a:ea typeface="+mn-ea"/>
                <a:cs typeface="+mn-cs"/>
              </a:rPr>
              <a:t>Generate SQL</a:t>
            </a:r>
            <a:r>
              <a:rPr lang="en-US" sz="1200" kern="1200" dirty="0">
                <a:solidFill>
                  <a:schemeClr val="tx1"/>
                </a:solidFill>
                <a:effectLst/>
                <a:latin typeface="+mn-lt"/>
                <a:ea typeface="+mn-ea"/>
                <a:cs typeface="+mn-cs"/>
              </a:rPr>
              <a:t> in the Swing interface. The </a:t>
            </a:r>
            <a:r>
              <a:rPr lang="en-US" sz="1200" kern="1200" dirty="0" err="1">
                <a:solidFill>
                  <a:schemeClr val="tx1"/>
                </a:solidFill>
                <a:effectLst/>
                <a:latin typeface="+mn-lt"/>
                <a:ea typeface="+mn-ea"/>
                <a:cs typeface="+mn-cs"/>
              </a:rPr>
              <a:t>SchemaFrame</a:t>
            </a:r>
            <a:r>
              <a:rPr lang="en-US" sz="1200" kern="1200" dirty="0">
                <a:solidFill>
                  <a:schemeClr val="tx1"/>
                </a:solidFill>
                <a:effectLst/>
                <a:latin typeface="+mn-lt"/>
                <a:ea typeface="+mn-ea"/>
                <a:cs typeface="+mn-cs"/>
              </a:rPr>
              <a:t> asks the controller for the current </a:t>
            </a:r>
            <a:r>
              <a:rPr lang="en-US" sz="1200" kern="1200" dirty="0" err="1">
                <a:solidFill>
                  <a:schemeClr val="tx1"/>
                </a:solidFill>
                <a:effectLst/>
                <a:latin typeface="+mn-lt"/>
                <a:ea typeface="+mn-ea"/>
                <a:cs typeface="+mn-cs"/>
              </a:rPr>
              <a:t>SchemaModel</a:t>
            </a:r>
            <a:r>
              <a:rPr lang="en-US" sz="1200" kern="1200" dirty="0">
                <a:solidFill>
                  <a:schemeClr val="tx1"/>
                </a:solidFill>
                <a:effectLst/>
                <a:latin typeface="+mn-lt"/>
                <a:ea typeface="+mn-ea"/>
                <a:cs typeface="+mn-cs"/>
              </a:rPr>
              <a:t>, which already contains all visual edits made by the user. Once it retrieves the edited schema, the GUI also reads the selected database type, such as MySQL, PostgreSQL, or Oracle.</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This information is passed to the controller through </a:t>
            </a:r>
            <a:r>
              <a:rPr lang="en-US" sz="1200" kern="1200" dirty="0" err="1">
                <a:solidFill>
                  <a:schemeClr val="tx1"/>
                </a:solidFill>
                <a:effectLst/>
                <a:latin typeface="+mn-lt"/>
                <a:ea typeface="+mn-ea"/>
                <a:cs typeface="+mn-cs"/>
              </a:rPr>
              <a:t>handleGenerateSqlFromModel</a:t>
            </a:r>
            <a:r>
              <a:rPr lang="en-US" sz="1200" kern="1200" dirty="0">
                <a:solidFill>
                  <a:schemeClr val="tx1"/>
                </a:solidFill>
                <a:effectLst/>
                <a:latin typeface="+mn-lt"/>
                <a:ea typeface="+mn-ea"/>
                <a:cs typeface="+mn-cs"/>
              </a:rPr>
              <a:t>. The controller then calls the </a:t>
            </a:r>
            <a:r>
              <a:rPr lang="en-US" sz="1200" kern="1200" dirty="0" err="1">
                <a:solidFill>
                  <a:schemeClr val="tx1"/>
                </a:solidFill>
                <a:effectLst/>
                <a:latin typeface="+mn-lt"/>
                <a:ea typeface="+mn-ea"/>
                <a:cs typeface="+mn-cs"/>
              </a:rPr>
              <a:t>SqlGeneratorFactory</a:t>
            </a:r>
            <a:r>
              <a:rPr lang="en-US" sz="1200" kern="1200" dirty="0">
                <a:solidFill>
                  <a:schemeClr val="tx1"/>
                </a:solidFill>
                <a:effectLst/>
                <a:latin typeface="+mn-lt"/>
                <a:ea typeface="+mn-ea"/>
                <a:cs typeface="+mn-cs"/>
              </a:rPr>
              <a:t>, which returns the correct generator implementation for the chosen DBMS.</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After that, the controller invokes </a:t>
            </a:r>
            <a:r>
              <a:rPr lang="en-US" sz="1200" kern="1200" dirty="0" err="1">
                <a:solidFill>
                  <a:schemeClr val="tx1"/>
                </a:solidFill>
                <a:effectLst/>
                <a:latin typeface="+mn-lt"/>
                <a:ea typeface="+mn-ea"/>
                <a:cs typeface="+mn-cs"/>
              </a:rPr>
              <a:t>generateLogged</a:t>
            </a:r>
            <a:r>
              <a:rPr lang="en-US" sz="1200" kern="1200" dirty="0">
                <a:solidFill>
                  <a:schemeClr val="tx1"/>
                </a:solidFill>
                <a:effectLst/>
                <a:latin typeface="+mn-lt"/>
                <a:ea typeface="+mn-ea"/>
                <a:cs typeface="+mn-cs"/>
              </a:rPr>
              <a:t> on the generator. The generator converts the unified </a:t>
            </a:r>
            <a:r>
              <a:rPr lang="en-US" sz="1200" kern="1200" dirty="0" err="1">
                <a:solidFill>
                  <a:schemeClr val="tx1"/>
                </a:solidFill>
                <a:effectLst/>
                <a:latin typeface="+mn-lt"/>
                <a:ea typeface="+mn-ea"/>
                <a:cs typeface="+mn-cs"/>
              </a:rPr>
              <a:t>SchemaModel</a:t>
            </a:r>
            <a:r>
              <a:rPr lang="en-US" sz="1200" kern="1200" dirty="0">
                <a:solidFill>
                  <a:schemeClr val="tx1"/>
                </a:solidFill>
                <a:effectLst/>
                <a:latin typeface="+mn-lt"/>
                <a:ea typeface="+mn-ea"/>
                <a:cs typeface="+mn-cs"/>
              </a:rPr>
              <a:t> into the final SQL DDL script. When the script is ready, it’s returned to the controller.</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controller then updates the GUI by showing a success message and displaying the generated SQL. It also writes the script to target/generated/</a:t>
            </a:r>
            <a:r>
              <a:rPr lang="en-US" sz="1200" kern="1200" dirty="0" err="1">
                <a:solidFill>
                  <a:schemeClr val="tx1"/>
                </a:solidFill>
                <a:effectLst/>
                <a:latin typeface="+mn-lt"/>
                <a:ea typeface="+mn-ea"/>
                <a:cs typeface="+mn-cs"/>
              </a:rPr>
              <a:t>schema.sql</a:t>
            </a:r>
            <a:r>
              <a:rPr lang="en-US" sz="1200" kern="1200" dirty="0">
                <a:solidFill>
                  <a:schemeClr val="tx1"/>
                </a:solidFill>
                <a:effectLst/>
                <a:latin typeface="+mn-lt"/>
                <a:ea typeface="+mn-ea"/>
                <a:cs typeface="+mn-cs"/>
              </a:rPr>
              <a:t> so the user has a saved version.</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Finally, if anything fails during generation or saving, the process switches into the error path, and the GUI shows an error message to the user.</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7C4E7652-46AF-4259-BAE2-54978EA077CD}" type="slidenum">
              <a:rPr lang="en-US" smtClean="0"/>
              <a:pPr/>
              <a:t>8</a:t>
            </a:fld>
            <a:endParaRPr lang="en-US"/>
          </a:p>
        </p:txBody>
      </p:sp>
    </p:spTree>
    <p:extLst>
      <p:ext uri="{BB962C8B-B14F-4D97-AF65-F5344CB8AC3E}">
        <p14:creationId xmlns:p14="http://schemas.microsoft.com/office/powerpoint/2010/main" val="6839837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Here is our final SonarQube analysis for the Schema2Script project.</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All three key quality categories — </a:t>
            </a:r>
            <a:r>
              <a:rPr lang="en-US" sz="1200" b="1" kern="1200" dirty="0">
                <a:solidFill>
                  <a:schemeClr val="tx1"/>
                </a:solidFill>
                <a:effectLst/>
                <a:latin typeface="+mn-lt"/>
                <a:ea typeface="+mn-ea"/>
                <a:cs typeface="+mn-cs"/>
              </a:rPr>
              <a:t>Security, Reliability, and Maintainability</a:t>
            </a:r>
            <a:r>
              <a:rPr lang="en-US" sz="1200" kern="1200" dirty="0">
                <a:solidFill>
                  <a:schemeClr val="tx1"/>
                </a:solidFill>
                <a:effectLst/>
                <a:latin typeface="+mn-lt"/>
                <a:ea typeface="+mn-ea"/>
                <a:cs typeface="+mn-cs"/>
              </a:rPr>
              <a:t> — received an </a:t>
            </a:r>
            <a:r>
              <a:rPr lang="en-US" sz="1200" b="1" kern="1200" dirty="0">
                <a:solidFill>
                  <a:schemeClr val="tx1"/>
                </a:solidFill>
                <a:effectLst/>
                <a:latin typeface="+mn-lt"/>
                <a:ea typeface="+mn-ea"/>
                <a:cs typeface="+mn-cs"/>
              </a:rPr>
              <a:t>A rating</a:t>
            </a:r>
            <a:r>
              <a:rPr lang="en-US" sz="1200" kern="1200" dirty="0">
                <a:solidFill>
                  <a:schemeClr val="tx1"/>
                </a:solidFill>
                <a:effectLst/>
                <a:latin typeface="+mn-lt"/>
                <a:ea typeface="+mn-ea"/>
                <a:cs typeface="+mn-cs"/>
              </a:rPr>
              <a:t>, with </a:t>
            </a:r>
            <a:r>
              <a:rPr lang="en-US" sz="1200" b="1" kern="1200" dirty="0">
                <a:solidFill>
                  <a:schemeClr val="tx1"/>
                </a:solidFill>
                <a:effectLst/>
                <a:latin typeface="+mn-lt"/>
                <a:ea typeface="+mn-ea"/>
                <a:cs typeface="+mn-cs"/>
              </a:rPr>
              <a:t>zero issues reported</a:t>
            </a:r>
            <a:r>
              <a:rPr lang="en-US" sz="1200" kern="1200" dirty="0">
                <a:solidFill>
                  <a:schemeClr val="tx1"/>
                </a:solidFill>
                <a:effectLst/>
                <a:latin typeface="+mn-lt"/>
                <a:ea typeface="+mn-ea"/>
                <a:cs typeface="+mn-cs"/>
              </a:rPr>
              <a:t> in each of these areas. This means our codebase has no security vulnerabilities, no reliability problems, and no maintainability concerns according to SonarQube’s ruleset.</a:t>
            </a:r>
          </a:p>
          <a:p>
            <a:br>
              <a:rPr lang="en-US" sz="1200" kern="1200" dirty="0">
                <a:solidFill>
                  <a:schemeClr val="tx1"/>
                </a:solidFill>
                <a:effectLst/>
                <a:latin typeface="+mn-lt"/>
                <a:ea typeface="+mn-ea"/>
                <a:cs typeface="+mn-cs"/>
              </a:rPr>
            </a:b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We also have </a:t>
            </a:r>
            <a:r>
              <a:rPr lang="en-US" sz="1200" b="1" kern="1200" dirty="0">
                <a:solidFill>
                  <a:schemeClr val="tx1"/>
                </a:solidFill>
                <a:effectLst/>
                <a:latin typeface="+mn-lt"/>
                <a:ea typeface="+mn-ea"/>
                <a:cs typeface="+mn-cs"/>
              </a:rPr>
              <a:t>zero hotspots</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zero duplications</a:t>
            </a:r>
            <a:r>
              <a:rPr lang="en-US" sz="1200" kern="1200" dirty="0">
                <a:solidFill>
                  <a:schemeClr val="tx1"/>
                </a:solidFill>
                <a:effectLst/>
                <a:latin typeface="+mn-lt"/>
                <a:ea typeface="+mn-ea"/>
                <a:cs typeface="+mn-cs"/>
              </a:rPr>
              <a:t>, and SonarQube confirmed that the project contains no duplicated logic across the codebase.</a:t>
            </a:r>
          </a:p>
          <a:p>
            <a:endParaRPr lang="en-US" dirty="0"/>
          </a:p>
        </p:txBody>
      </p:sp>
      <p:sp>
        <p:nvSpPr>
          <p:cNvPr id="4" name="Slide Number Placeholder 3"/>
          <p:cNvSpPr>
            <a:spLocks noGrp="1"/>
          </p:cNvSpPr>
          <p:nvPr>
            <p:ph type="sldNum" sz="quarter" idx="5"/>
          </p:nvPr>
        </p:nvSpPr>
        <p:spPr/>
        <p:txBody>
          <a:bodyPr/>
          <a:lstStyle/>
          <a:p>
            <a:fld id="{7C4E7652-46AF-4259-BAE2-54978EA077CD}" type="slidenum">
              <a:rPr lang="en-US" smtClean="0"/>
              <a:pPr/>
              <a:t>9</a:t>
            </a:fld>
            <a:endParaRPr lang="en-US"/>
          </a:p>
        </p:txBody>
      </p:sp>
    </p:spTree>
    <p:extLst>
      <p:ext uri="{BB962C8B-B14F-4D97-AF65-F5344CB8AC3E}">
        <p14:creationId xmlns:p14="http://schemas.microsoft.com/office/powerpoint/2010/main" val="30241338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Here are the features we didn’t manage to implement within the milestone scope.</a:t>
            </a:r>
          </a:p>
          <a:p>
            <a:r>
              <a:rPr lang="en-US" sz="1200" kern="1200" dirty="0">
                <a:solidFill>
                  <a:schemeClr val="tx1"/>
                </a:solidFill>
                <a:effectLst/>
                <a:latin typeface="+mn-lt"/>
                <a:ea typeface="+mn-ea"/>
                <a:cs typeface="+mn-cs"/>
              </a:rPr>
              <a:t>We weren’t able to add full relationship visualization or drag-and-drop editing, and undo/redo was a larger UI task than expected.</a:t>
            </a:r>
          </a:p>
          <a:p>
            <a:r>
              <a:rPr lang="en-US" sz="1200" kern="1200" dirty="0">
                <a:solidFill>
                  <a:schemeClr val="tx1"/>
                </a:solidFill>
                <a:effectLst/>
                <a:latin typeface="+mn-lt"/>
                <a:ea typeface="+mn-ea"/>
                <a:cs typeface="+mn-cs"/>
              </a:rPr>
              <a:t>We also didn’t build schema export or extra DBMS generators due to time limitations. These are all realistic next steps for extending the project.</a:t>
            </a:r>
          </a:p>
          <a:p>
            <a:endParaRPr lang="en-US" dirty="0"/>
          </a:p>
        </p:txBody>
      </p:sp>
      <p:sp>
        <p:nvSpPr>
          <p:cNvPr id="4" name="Slide Number Placeholder 3"/>
          <p:cNvSpPr>
            <a:spLocks noGrp="1"/>
          </p:cNvSpPr>
          <p:nvPr>
            <p:ph type="sldNum" sz="quarter" idx="5"/>
          </p:nvPr>
        </p:nvSpPr>
        <p:spPr/>
        <p:txBody>
          <a:bodyPr/>
          <a:lstStyle/>
          <a:p>
            <a:fld id="{7C4E7652-46AF-4259-BAE2-54978EA077CD}" type="slidenum">
              <a:rPr lang="en-US" smtClean="0"/>
              <a:pPr/>
              <a:t>10</a:t>
            </a:fld>
            <a:endParaRPr lang="en-US"/>
          </a:p>
        </p:txBody>
      </p:sp>
    </p:spTree>
    <p:extLst>
      <p:ext uri="{BB962C8B-B14F-4D97-AF65-F5344CB8AC3E}">
        <p14:creationId xmlns:p14="http://schemas.microsoft.com/office/powerpoint/2010/main" val="26449925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part we’re most proud of is that the system now works completely from start to finish.</a:t>
            </a:r>
          </a:p>
          <a:p>
            <a:r>
              <a:rPr lang="en-US" sz="1200" kern="1200" dirty="0">
                <a:solidFill>
                  <a:schemeClr val="tx1"/>
                </a:solidFill>
                <a:effectLst/>
                <a:latin typeface="+mn-lt"/>
                <a:ea typeface="+mn-ea"/>
                <a:cs typeface="+mn-cs"/>
              </a:rPr>
              <a:t>We have a clean architecture, a unified model, and a functional GUI that lets the user edit schemas visually and instantly generate SQL.</a:t>
            </a:r>
          </a:p>
          <a:p>
            <a:r>
              <a:rPr lang="en-US" sz="1200" kern="1200" dirty="0">
                <a:solidFill>
                  <a:schemeClr val="tx1"/>
                </a:solidFill>
                <a:effectLst/>
                <a:latin typeface="+mn-lt"/>
                <a:ea typeface="+mn-ea"/>
                <a:cs typeface="+mn-cs"/>
              </a:rPr>
              <a:t>Our team stayed consistent and cooperative throughout the project, which made the whole development process smooth.</a:t>
            </a:r>
          </a:p>
          <a:p>
            <a:endParaRPr lang="en-US" dirty="0"/>
          </a:p>
        </p:txBody>
      </p:sp>
      <p:sp>
        <p:nvSpPr>
          <p:cNvPr id="4" name="Slide Number Placeholder 3"/>
          <p:cNvSpPr>
            <a:spLocks noGrp="1"/>
          </p:cNvSpPr>
          <p:nvPr>
            <p:ph type="sldNum" sz="quarter" idx="5"/>
          </p:nvPr>
        </p:nvSpPr>
        <p:spPr/>
        <p:txBody>
          <a:bodyPr/>
          <a:lstStyle/>
          <a:p>
            <a:fld id="{7C4E7652-46AF-4259-BAE2-54978EA077CD}" type="slidenum">
              <a:rPr lang="en-US" smtClean="0"/>
              <a:pPr/>
              <a:t>11</a:t>
            </a:fld>
            <a:endParaRPr lang="en-US"/>
          </a:p>
        </p:txBody>
      </p:sp>
    </p:spTree>
    <p:extLst>
      <p:ext uri="{BB962C8B-B14F-4D97-AF65-F5344CB8AC3E}">
        <p14:creationId xmlns:p14="http://schemas.microsoft.com/office/powerpoint/2010/main" val="14794570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If we had more time, we would improve our GUI layout, add stronger validation, and expand our test coverage.</a:t>
            </a:r>
          </a:p>
          <a:p>
            <a:r>
              <a:rPr lang="en-US" sz="1200" kern="1200" dirty="0">
                <a:solidFill>
                  <a:schemeClr val="tx1"/>
                </a:solidFill>
                <a:effectLst/>
                <a:latin typeface="+mn-lt"/>
                <a:ea typeface="+mn-ea"/>
                <a:cs typeface="+mn-cs"/>
              </a:rPr>
              <a:t>We’d also refine the separation between the UI and controller to reduce responsibility overlap.</a:t>
            </a:r>
          </a:p>
          <a:p>
            <a:r>
              <a:rPr lang="en-US" sz="1200" kern="1200" dirty="0">
                <a:solidFill>
                  <a:schemeClr val="tx1"/>
                </a:solidFill>
                <a:effectLst/>
                <a:latin typeface="+mn-lt"/>
                <a:ea typeface="+mn-ea"/>
                <a:cs typeface="+mn-cs"/>
              </a:rPr>
              <a:t>And finally, we’d allocate more time for optional features like schema export and better relationship editing.</a:t>
            </a:r>
          </a:p>
          <a:p>
            <a:endParaRPr lang="en-US" dirty="0"/>
          </a:p>
        </p:txBody>
      </p:sp>
      <p:sp>
        <p:nvSpPr>
          <p:cNvPr id="4" name="Slide Number Placeholder 3"/>
          <p:cNvSpPr>
            <a:spLocks noGrp="1"/>
          </p:cNvSpPr>
          <p:nvPr>
            <p:ph type="sldNum" sz="quarter" idx="5"/>
          </p:nvPr>
        </p:nvSpPr>
        <p:spPr/>
        <p:txBody>
          <a:bodyPr/>
          <a:lstStyle/>
          <a:p>
            <a:fld id="{7C4E7652-46AF-4259-BAE2-54978EA077CD}" type="slidenum">
              <a:rPr lang="en-US" smtClean="0"/>
              <a:pPr/>
              <a:t>12</a:t>
            </a:fld>
            <a:endParaRPr lang="en-US"/>
          </a:p>
        </p:txBody>
      </p:sp>
    </p:spTree>
    <p:extLst>
      <p:ext uri="{BB962C8B-B14F-4D97-AF65-F5344CB8AC3E}">
        <p14:creationId xmlns:p14="http://schemas.microsoft.com/office/powerpoint/2010/main" val="872490855"/>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14.png"/><Relationship Id="rId11" Type="http://schemas.openxmlformats.org/officeDocument/2006/relationships/image" Target="../media/image19.svg"/><Relationship Id="rId5" Type="http://schemas.openxmlformats.org/officeDocument/2006/relationships/image" Target="../media/image13.sv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E770D99E-2869-438B-B483-1F6CCD5437EE}"/>
              </a:ext>
            </a:extLst>
          </p:cNvPr>
          <p:cNvGrpSpPr/>
          <p:nvPr userDrawn="1"/>
        </p:nvGrpSpPr>
        <p:grpSpPr>
          <a:xfrm>
            <a:off x="-1" y="-10825"/>
            <a:ext cx="9144002" cy="6515395"/>
            <a:chOff x="-1" y="-10825"/>
            <a:chExt cx="9144002" cy="6515395"/>
          </a:xfrm>
        </p:grpSpPr>
        <p:pic>
          <p:nvPicPr>
            <p:cNvPr id="11" name="Graphic 10">
              <a:extLst>
                <a:ext uri="{FF2B5EF4-FFF2-40B4-BE49-F238E27FC236}">
                  <a16:creationId xmlns:a16="http://schemas.microsoft.com/office/drawing/2014/main" id="{F66236F9-EA1F-4D2A-84DE-EC04F9972C4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57200" y="-10825"/>
              <a:ext cx="3429000" cy="3181546"/>
            </a:xfrm>
            <a:prstGeom prst="rect">
              <a:avLst/>
            </a:prstGeom>
          </p:spPr>
        </p:pic>
        <p:pic>
          <p:nvPicPr>
            <p:cNvPr id="12" name="Graphic 11">
              <a:extLst>
                <a:ext uri="{FF2B5EF4-FFF2-40B4-BE49-F238E27FC236}">
                  <a16:creationId xmlns:a16="http://schemas.microsoft.com/office/drawing/2014/main" id="{32A12C4E-53AE-4900-9783-F6190544083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295401" y="-10825"/>
              <a:ext cx="7848600" cy="3522243"/>
            </a:xfrm>
            <a:prstGeom prst="rect">
              <a:avLst/>
            </a:prstGeom>
          </p:spPr>
        </p:pic>
        <p:pic>
          <p:nvPicPr>
            <p:cNvPr id="13" name="Graphic 12">
              <a:extLst>
                <a:ext uri="{FF2B5EF4-FFF2-40B4-BE49-F238E27FC236}">
                  <a16:creationId xmlns:a16="http://schemas.microsoft.com/office/drawing/2014/main" id="{A14E049B-6FD4-487E-927B-506983629A35}"/>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2831825" y="2232482"/>
              <a:ext cx="1282976" cy="1108588"/>
            </a:xfrm>
            <a:prstGeom prst="rect">
              <a:avLst/>
            </a:prstGeom>
          </p:spPr>
        </p:pic>
        <p:pic>
          <p:nvPicPr>
            <p:cNvPr id="14" name="Graphic 13">
              <a:extLst>
                <a:ext uri="{FF2B5EF4-FFF2-40B4-BE49-F238E27FC236}">
                  <a16:creationId xmlns:a16="http://schemas.microsoft.com/office/drawing/2014/main" id="{EF27E3F5-0D4D-492C-8A3E-50BC30CEFD28}"/>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 y="2962082"/>
              <a:ext cx="2757625" cy="3542488"/>
            </a:xfrm>
            <a:prstGeom prst="rect">
              <a:avLst/>
            </a:prstGeom>
          </p:spPr>
        </p:pic>
        <p:pic>
          <p:nvPicPr>
            <p:cNvPr id="15" name="Graphic 14">
              <a:extLst>
                <a:ext uri="{FF2B5EF4-FFF2-40B4-BE49-F238E27FC236}">
                  <a16:creationId xmlns:a16="http://schemas.microsoft.com/office/drawing/2014/main" id="{36D4FF91-8818-4598-AC9F-B8C2FA867C0F}"/>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2" y="2313169"/>
              <a:ext cx="2259131" cy="2895506"/>
            </a:xfrm>
            <a:prstGeom prst="rect">
              <a:avLst/>
            </a:prstGeom>
          </p:spPr>
        </p:pic>
      </p:grpSp>
      <p:sp>
        <p:nvSpPr>
          <p:cNvPr id="8" name="Title 7"/>
          <p:cNvSpPr>
            <a:spLocks noGrp="1"/>
          </p:cNvSpPr>
          <p:nvPr>
            <p:ph type="ctrTitle"/>
          </p:nvPr>
        </p:nvSpPr>
        <p:spPr>
          <a:xfrm>
            <a:off x="3276600" y="1213332"/>
            <a:ext cx="5326856" cy="1425577"/>
          </a:xfrm>
        </p:spPr>
        <p:txBody>
          <a:bodyPr anchor="b"/>
          <a:lstStyle>
            <a:lvl1pPr algn="r">
              <a:defRPr sz="4500" b="1">
                <a:solidFill>
                  <a:schemeClr val="bg2"/>
                </a:solidFill>
              </a:defRPr>
            </a:lvl1pPr>
          </a:lstStyle>
          <a:p>
            <a:r>
              <a:rPr lang="en-US"/>
              <a:t>Click to edit Master title style</a:t>
            </a:r>
            <a:endParaRPr lang="en-US" dirty="0"/>
          </a:p>
        </p:txBody>
      </p:sp>
      <p:sp>
        <p:nvSpPr>
          <p:cNvPr id="9" name="Subtitle 8"/>
          <p:cNvSpPr>
            <a:spLocks noGrp="1"/>
          </p:cNvSpPr>
          <p:nvPr>
            <p:ph type="subTitle" idx="1"/>
          </p:nvPr>
        </p:nvSpPr>
        <p:spPr>
          <a:xfrm>
            <a:off x="4724400" y="3849666"/>
            <a:ext cx="3879056" cy="1234575"/>
          </a:xfrm>
          <a:noFill/>
        </p:spPr>
        <p:txBody>
          <a:bodyPr/>
          <a:lstStyle>
            <a:lvl1pPr marL="0" marR="36576" indent="0" algn="l">
              <a:spcBef>
                <a:spcPts val="0"/>
              </a:spcBef>
              <a:buNone/>
              <a:defRPr>
                <a:ln>
                  <a:noFill/>
                </a:ln>
                <a:solidFill>
                  <a:schemeClr val="bg2">
                    <a:lumMod val="75000"/>
                    <a:lumOff val="2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endParaRPr lang="en-US" dirty="0"/>
          </a:p>
        </p:txBody>
      </p:sp>
      <p:sp>
        <p:nvSpPr>
          <p:cNvPr id="28" name="Date Placeholder 27"/>
          <p:cNvSpPr>
            <a:spLocks noGrp="1"/>
          </p:cNvSpPr>
          <p:nvPr>
            <p:ph type="dt" sz="half" idx="10"/>
          </p:nvPr>
        </p:nvSpPr>
        <p:spPr>
          <a:xfrm>
            <a:off x="2812256" y="6322007"/>
            <a:ext cx="5791200" cy="365125"/>
          </a:xfrm>
          <a:prstGeom prst="rect">
            <a:avLst/>
          </a:prstGeom>
        </p:spPr>
        <p:txBody>
          <a:bodyPr tIns="0" bIns="0" anchor="t"/>
          <a:lstStyle>
            <a:lvl1pPr algn="r">
              <a:defRPr sz="1000"/>
            </a:lvl1pPr>
          </a:lstStyle>
          <a:p>
            <a:pPr algn="r"/>
            <a:fld id="{A2E209FB-7A34-414B-812A-BCC5C4256F49}" type="datetime1">
              <a:rPr lang="en-US" smtClean="0"/>
              <a:pPr algn="r"/>
              <a:t>11/30/25</a:t>
            </a:fld>
            <a:endParaRPr lang="en-US" sz="1000" dirty="0"/>
          </a:p>
        </p:txBody>
      </p:sp>
      <p:sp>
        <p:nvSpPr>
          <p:cNvPr id="17" name="Footer Placeholder 16"/>
          <p:cNvSpPr>
            <a:spLocks noGrp="1"/>
          </p:cNvSpPr>
          <p:nvPr>
            <p:ph type="ftr" sz="quarter" idx="11"/>
          </p:nvPr>
        </p:nvSpPr>
        <p:spPr>
          <a:xfrm>
            <a:off x="2812256" y="5960055"/>
            <a:ext cx="5791200" cy="365125"/>
          </a:xfrm>
        </p:spPr>
        <p:txBody>
          <a:bodyPr tIns="0" bIns="0" anchor="b"/>
          <a:lstStyle>
            <a:lvl1pPr algn="r">
              <a:defRPr sz="1100"/>
            </a:lvl1pPr>
          </a:lstStyle>
          <a:p>
            <a:pPr algn="r"/>
            <a:endParaRPr lang="en-US" sz="110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65395"/>
            <a:ext cx="4876800" cy="799306"/>
          </a:xfrm>
        </p:spPr>
        <p:txBody>
          <a:bodyPr/>
          <a:lstStyle/>
          <a:p>
            <a:r>
              <a:rPr lang="en-US"/>
              <a:t>Click to edit Master title style</a:t>
            </a:r>
            <a:endParaRPr lang="en-US" dirty="0"/>
          </a:p>
        </p:txBody>
      </p:sp>
      <p:sp>
        <p:nvSpPr>
          <p:cNvPr id="3" name="Content Placeholder 2"/>
          <p:cNvSpPr>
            <a:spLocks noGrp="1"/>
          </p:cNvSpPr>
          <p:nvPr>
            <p:ph idx="1"/>
          </p:nvPr>
        </p:nvSpPr>
        <p:spPr>
          <a:xfrm>
            <a:off x="457200" y="1600200"/>
            <a:ext cx="8229600" cy="4572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a:xfrm>
            <a:off x="5715000" y="173195"/>
            <a:ext cx="2468880" cy="300831"/>
          </a:xfrm>
        </p:spPr>
        <p:txBody>
          <a:bodyPr/>
          <a:lstStyle>
            <a:lvl1pPr>
              <a:defRPr/>
            </a:lvl1pPr>
          </a:lstStyle>
          <a:p>
            <a:r>
              <a:rPr lang="en-US" dirty="0"/>
              <a:t>www.website.com</a:t>
            </a:r>
          </a:p>
        </p:txBody>
      </p:sp>
      <p:sp>
        <p:nvSpPr>
          <p:cNvPr id="6" name="Slide Number Placeholder 5"/>
          <p:cNvSpPr>
            <a:spLocks noGrp="1"/>
          </p:cNvSpPr>
          <p:nvPr>
            <p:ph type="sldNum" sz="quarter" idx="12"/>
          </p:nvPr>
        </p:nvSpPr>
        <p:spPr/>
        <p:txBody>
          <a:bodyPr/>
          <a:lstStyle/>
          <a:p>
            <a:fld id="{FEA1243F-3000-4347-94A4-FBDEAD3122C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ABB0C64-AD16-4270-8323-3B986F4CAD10}"/>
              </a:ext>
            </a:extLst>
          </p:cNvPr>
          <p:cNvGrpSpPr/>
          <p:nvPr userDrawn="1"/>
        </p:nvGrpSpPr>
        <p:grpSpPr>
          <a:xfrm>
            <a:off x="5105399" y="3142"/>
            <a:ext cx="4038601" cy="1101851"/>
            <a:chOff x="5334000" y="-37306"/>
            <a:chExt cx="3281716" cy="895350"/>
          </a:xfrm>
        </p:grpSpPr>
        <p:pic>
          <p:nvPicPr>
            <p:cNvPr id="12" name="Graphic 11">
              <a:extLst>
                <a:ext uri="{FF2B5EF4-FFF2-40B4-BE49-F238E27FC236}">
                  <a16:creationId xmlns:a16="http://schemas.microsoft.com/office/drawing/2014/main" id="{323EE1CF-2D6B-4E08-B98D-D9F9B919680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448301" y="-37306"/>
              <a:ext cx="3167415" cy="609600"/>
            </a:xfrm>
            <a:prstGeom prst="rect">
              <a:avLst/>
            </a:prstGeom>
          </p:spPr>
        </p:pic>
        <p:pic>
          <p:nvPicPr>
            <p:cNvPr id="13" name="Graphic 12">
              <a:extLst>
                <a:ext uri="{FF2B5EF4-FFF2-40B4-BE49-F238E27FC236}">
                  <a16:creationId xmlns:a16="http://schemas.microsoft.com/office/drawing/2014/main" id="{2AA44434-8959-4391-901A-0B056114A27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334000" y="-37306"/>
              <a:ext cx="819150" cy="895350"/>
            </a:xfrm>
            <a:prstGeom prst="rect">
              <a:avLst/>
            </a:prstGeom>
          </p:spPr>
        </p:pic>
      </p:grpSp>
      <p:sp>
        <p:nvSpPr>
          <p:cNvPr id="2" name="Title 1">
            <a:extLst>
              <a:ext uri="{FF2B5EF4-FFF2-40B4-BE49-F238E27FC236}">
                <a16:creationId xmlns:a16="http://schemas.microsoft.com/office/drawing/2014/main" id="{33133CFB-98CB-4408-8818-24F931AC137B}"/>
              </a:ext>
            </a:extLst>
          </p:cNvPr>
          <p:cNvSpPr>
            <a:spLocks noGrp="1"/>
          </p:cNvSpPr>
          <p:nvPr>
            <p:ph type="title"/>
          </p:nvPr>
        </p:nvSpPr>
        <p:spPr/>
        <p:txBody>
          <a:body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A6EE7E31-13F0-404F-BFFF-EE236EB5D4B4}"/>
              </a:ext>
            </a:extLst>
          </p:cNvPr>
          <p:cNvSpPr>
            <a:spLocks noGrp="1"/>
          </p:cNvSpPr>
          <p:nvPr>
            <p:ph type="ftr" sz="quarter" idx="10"/>
          </p:nvPr>
        </p:nvSpPr>
        <p:spPr/>
        <p:txBody>
          <a:bodyPr/>
          <a:lstStyle/>
          <a:p>
            <a:r>
              <a:rPr lang="en-US"/>
              <a:t>www.website.com</a:t>
            </a:r>
            <a:endParaRPr lang="en-US" dirty="0"/>
          </a:p>
        </p:txBody>
      </p:sp>
      <p:sp>
        <p:nvSpPr>
          <p:cNvPr id="4" name="Slide Number Placeholder 3">
            <a:extLst>
              <a:ext uri="{FF2B5EF4-FFF2-40B4-BE49-F238E27FC236}">
                <a16:creationId xmlns:a16="http://schemas.microsoft.com/office/drawing/2014/main" id="{04FC6F67-BAE4-413D-8066-1E361D58912A}"/>
              </a:ext>
            </a:extLst>
          </p:cNvPr>
          <p:cNvSpPr>
            <a:spLocks noGrp="1"/>
          </p:cNvSpPr>
          <p:nvPr>
            <p:ph type="sldNum" sz="quarter" idx="11"/>
          </p:nvPr>
        </p:nvSpPr>
        <p:spPr/>
        <p:txBody>
          <a:bodyPr/>
          <a:lstStyle/>
          <a:p>
            <a:fld id="{49598980-D22C-4904-9F8F-3DB09B2ECD84}" type="slidenum">
              <a:rPr lang="en-US" smtClean="0"/>
              <a:pPr/>
              <a:t>‹#›</a:t>
            </a:fld>
            <a:endParaRPr lang="en-US" dirty="0"/>
          </a:p>
        </p:txBody>
      </p:sp>
      <p:sp>
        <p:nvSpPr>
          <p:cNvPr id="14" name="Content Placeholder 2">
            <a:extLst>
              <a:ext uri="{FF2B5EF4-FFF2-40B4-BE49-F238E27FC236}">
                <a16:creationId xmlns:a16="http://schemas.microsoft.com/office/drawing/2014/main" id="{DF566D8F-E696-41DE-BA1C-A8D0C7F03EDA}"/>
              </a:ext>
            </a:extLst>
          </p:cNvPr>
          <p:cNvSpPr>
            <a:spLocks noGrp="1"/>
          </p:cNvSpPr>
          <p:nvPr>
            <p:ph idx="1"/>
          </p:nvPr>
        </p:nvSpPr>
        <p:spPr>
          <a:xfrm>
            <a:off x="457200" y="1425655"/>
            <a:ext cx="7726680" cy="571500"/>
          </a:xfrm>
        </p:spPr>
        <p:txBody>
          <a:bodyPr>
            <a:normAutofit/>
          </a:bodyPr>
          <a:lstStyle>
            <a:lvl1pPr marL="64008" indent="0">
              <a:buFont typeface="Arial" panose="020B0604020202020204" pitchFamily="34" charset="0"/>
              <a:buNone/>
              <a:defRPr sz="2000"/>
            </a:lvl1pPr>
            <a:lvl2pPr marL="537210" indent="0">
              <a:buNone/>
              <a:defRPr/>
            </a:lvl2pPr>
            <a:lvl3pPr marL="877824" indent="0">
              <a:buNone/>
              <a:defRPr/>
            </a:lvl3pPr>
            <a:lvl4pPr marL="1161288" indent="0">
              <a:buNone/>
              <a:defRPr/>
            </a:lvl4pPr>
            <a:lvl5pPr marL="1389888" indent="0">
              <a:buNone/>
              <a:defRPr/>
            </a:lvl5pPr>
          </a:lstStyle>
          <a:p>
            <a:pPr lvl="0"/>
            <a:r>
              <a:rPr lang="en-US"/>
              <a:t>Edit Master text styles</a:t>
            </a:r>
          </a:p>
        </p:txBody>
      </p:sp>
    </p:spTree>
    <p:extLst>
      <p:ext uri="{BB962C8B-B14F-4D97-AF65-F5344CB8AC3E}">
        <p14:creationId xmlns:p14="http://schemas.microsoft.com/office/powerpoint/2010/main" val="27187874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lgn="l">
              <a:defRPr/>
            </a:lvl1pPr>
          </a:lstStyle>
          <a:p>
            <a:r>
              <a:rPr lang="en-US"/>
              <a:t>Click to edit Master title style</a:t>
            </a:r>
            <a:endParaRPr lang="en-US" dirty="0"/>
          </a:p>
        </p:txBody>
      </p:sp>
      <p:sp>
        <p:nvSpPr>
          <p:cNvPr id="3" name="Content Placeholder 2"/>
          <p:cNvSpPr>
            <a:spLocks noGrp="1"/>
          </p:cNvSpPr>
          <p:nvPr>
            <p:ph sz="half" idx="1"/>
          </p:nvPr>
        </p:nvSpPr>
        <p:spPr>
          <a:xfrm>
            <a:off x="457200" y="1722437"/>
            <a:ext cx="4038600" cy="4525963"/>
          </a:xfrm>
        </p:spPr>
        <p:txBody>
          <a:bodyPr/>
          <a:lstStyle>
            <a:lvl1pPr>
              <a:defRPr sz="2600"/>
            </a:lvl1pPr>
            <a:lvl2pPr>
              <a:defRPr sz="2400"/>
            </a:lvl2pPr>
            <a:lvl3pPr>
              <a:defRPr sz="20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722437"/>
            <a:ext cx="4038600" cy="4525963"/>
          </a:xfrm>
        </p:spPr>
        <p:txBody>
          <a:bodyPr/>
          <a:lstStyle>
            <a:lvl1pPr>
              <a:defRPr sz="2600"/>
            </a:lvl1pPr>
            <a:lvl2pPr>
              <a:defRPr sz="2400"/>
            </a:lvl2pPr>
            <a:lvl3pPr>
              <a:defRPr sz="20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a:xfrm>
            <a:off x="5791200" y="173195"/>
            <a:ext cx="2355056" cy="301752"/>
          </a:xfrm>
        </p:spPr>
        <p:txBody>
          <a:bodyPr/>
          <a:lstStyle/>
          <a:p>
            <a:r>
              <a:rPr lang="en-US" dirty="0"/>
              <a:t>www.website.com</a:t>
            </a:r>
          </a:p>
        </p:txBody>
      </p:sp>
      <p:sp>
        <p:nvSpPr>
          <p:cNvPr id="9" name="Slide Number Placeholder 6">
            <a:extLst>
              <a:ext uri="{FF2B5EF4-FFF2-40B4-BE49-F238E27FC236}">
                <a16:creationId xmlns:a16="http://schemas.microsoft.com/office/drawing/2014/main" id="{B32CA5EA-865E-4EF0-89BB-61FD6EFE265C}"/>
              </a:ext>
            </a:extLst>
          </p:cNvPr>
          <p:cNvSpPr>
            <a:spLocks noGrp="1"/>
          </p:cNvSpPr>
          <p:nvPr>
            <p:ph type="sldNum" sz="quarter" idx="12"/>
          </p:nvPr>
        </p:nvSpPr>
        <p:spPr>
          <a:xfrm>
            <a:off x="8180070" y="173195"/>
            <a:ext cx="502920" cy="301752"/>
          </a:xfrm>
        </p:spPr>
        <p:txBody>
          <a:bodyPr/>
          <a:lstStyle/>
          <a:p>
            <a:fld id="{FEA1243F-3000-4347-94A4-FBDEAD3122C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19456" y="1295400"/>
            <a:ext cx="914400" cy="5015864"/>
          </a:xfrm>
        </p:spPr>
        <p:txBody>
          <a:bodyPr vert="vert270" anchor="b"/>
          <a:lstStyle>
            <a:lvl1pPr marL="0" marR="18288" algn="r">
              <a:spcBef>
                <a:spcPts val="0"/>
              </a:spcBef>
              <a:buNone/>
              <a:defRPr sz="29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135856" y="1295400"/>
            <a:ext cx="2438400" cy="5015864"/>
          </a:xfrm>
        </p:spPr>
        <p:txBody>
          <a:bodyPr anchor="t"/>
          <a:lstStyle>
            <a:lvl1pPr marL="0" indent="0">
              <a:spcBef>
                <a:spcPts val="0"/>
              </a:spcBef>
              <a:buNone/>
              <a:defRPr sz="1400"/>
            </a:lvl1pPr>
            <a:lvl2pPr>
              <a:buNone/>
              <a:defRPr sz="1200"/>
            </a:lvl2pPr>
            <a:lvl3pPr>
              <a:buNone/>
              <a:defRPr sz="1000"/>
            </a:lvl3pPr>
            <a:lvl4pPr>
              <a:buNone/>
              <a:defRPr sz="900"/>
            </a:lvl4pPr>
            <a:lvl5pPr>
              <a:buNone/>
              <a:defRPr sz="9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651250" y="1295400"/>
            <a:ext cx="5276088" cy="5013960"/>
          </a:xfrm>
        </p:spPr>
        <p:txBody>
          <a:bodyPr>
            <a:normAutofit/>
          </a:bodyPr>
          <a:lstStyle>
            <a:lvl1pPr>
              <a:spcBef>
                <a:spcPts val="0"/>
              </a:spcBef>
              <a:defRPr sz="2800"/>
            </a:lvl1pPr>
            <a:lvl2pPr>
              <a:defRPr sz="2400"/>
            </a:lvl2pPr>
            <a:lvl3pPr>
              <a:defRPr sz="2000"/>
            </a:lvl3pPr>
            <a:lvl4pPr>
              <a:defRPr sz="1800"/>
            </a:lvl4pPr>
            <a:lvl5pPr>
              <a:defRPr sz="1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a:xfrm>
            <a:off x="5867400" y="173195"/>
            <a:ext cx="2324196" cy="301752"/>
          </a:xfrm>
        </p:spPr>
        <p:txBody>
          <a:bodyPr/>
          <a:lstStyle>
            <a:lvl1pPr>
              <a:defRPr sz="1200"/>
            </a:lvl1pPr>
          </a:lstStyle>
          <a:p>
            <a:r>
              <a:rPr lang="en-US" dirty="0"/>
              <a:t>www.website.com</a:t>
            </a:r>
          </a:p>
        </p:txBody>
      </p:sp>
      <p:sp>
        <p:nvSpPr>
          <p:cNvPr id="9" name="Slide Number Placeholder 6">
            <a:extLst>
              <a:ext uri="{FF2B5EF4-FFF2-40B4-BE49-F238E27FC236}">
                <a16:creationId xmlns:a16="http://schemas.microsoft.com/office/drawing/2014/main" id="{BD5BE3E6-AFB3-460C-834B-D73EE2A7C06F}"/>
              </a:ext>
            </a:extLst>
          </p:cNvPr>
          <p:cNvSpPr>
            <a:spLocks noGrp="1"/>
          </p:cNvSpPr>
          <p:nvPr>
            <p:ph type="sldNum" sz="quarter" idx="12"/>
          </p:nvPr>
        </p:nvSpPr>
        <p:spPr>
          <a:xfrm>
            <a:off x="8191596" y="173195"/>
            <a:ext cx="502920" cy="301752"/>
          </a:xfrm>
        </p:spPr>
        <p:txBody>
          <a:bodyPr/>
          <a:lstStyle>
            <a:lvl1pPr>
              <a:defRPr sz="1200"/>
            </a:lvl1pPr>
          </a:lstStyle>
          <a:p>
            <a:fld id="{FEA1243F-3000-4347-94A4-FBDEAD3122CB}" type="slidenum">
              <a:rPr lang="en-US" smtClean="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3.svg"/><Relationship Id="rId13" Type="http://schemas.openxmlformats.org/officeDocument/2006/relationships/image" Target="../media/image8.png"/><Relationship Id="rId3" Type="http://schemas.openxmlformats.org/officeDocument/2006/relationships/slideLayout" Target="../slideLayouts/slideLayout3.xml"/><Relationship Id="rId7" Type="http://schemas.openxmlformats.org/officeDocument/2006/relationships/image" Target="../media/image2.png"/><Relationship Id="rId12" Type="http://schemas.openxmlformats.org/officeDocument/2006/relationships/image" Target="../media/image7.sv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image" Target="../media/image6.png"/><Relationship Id="rId5" Type="http://schemas.openxmlformats.org/officeDocument/2006/relationships/slideLayout" Target="../slideLayouts/slideLayout5.xml"/><Relationship Id="rId10" Type="http://schemas.openxmlformats.org/officeDocument/2006/relationships/image" Target="../media/image5.svg"/><Relationship Id="rId4" Type="http://schemas.openxmlformats.org/officeDocument/2006/relationships/slideLayout" Target="../slideLayouts/slideLayout4.xml"/><Relationship Id="rId9" Type="http://schemas.openxmlformats.org/officeDocument/2006/relationships/image" Target="../media/image4.png"/><Relationship Id="rId14" Type="http://schemas.openxmlformats.org/officeDocument/2006/relationships/image" Target="../media/image9.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1423E8A4-D2B7-46D2-92C3-AE6BC0B9BD06}"/>
              </a:ext>
            </a:extLst>
          </p:cNvPr>
          <p:cNvGrpSpPr/>
          <p:nvPr userDrawn="1"/>
        </p:nvGrpSpPr>
        <p:grpSpPr>
          <a:xfrm>
            <a:off x="5105399" y="3142"/>
            <a:ext cx="4038601" cy="1101851"/>
            <a:chOff x="5334000" y="-37306"/>
            <a:chExt cx="3281716" cy="895350"/>
          </a:xfrm>
        </p:grpSpPr>
        <p:pic>
          <p:nvPicPr>
            <p:cNvPr id="18" name="Graphic 17">
              <a:extLst>
                <a:ext uri="{FF2B5EF4-FFF2-40B4-BE49-F238E27FC236}">
                  <a16:creationId xmlns:a16="http://schemas.microsoft.com/office/drawing/2014/main" id="{9309AE25-B267-4B83-A0CB-35016E70EE69}"/>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5448301" y="-37306"/>
              <a:ext cx="3167415" cy="609600"/>
            </a:xfrm>
            <a:prstGeom prst="rect">
              <a:avLst/>
            </a:prstGeom>
          </p:spPr>
        </p:pic>
        <p:pic>
          <p:nvPicPr>
            <p:cNvPr id="19" name="Graphic 18">
              <a:extLst>
                <a:ext uri="{FF2B5EF4-FFF2-40B4-BE49-F238E27FC236}">
                  <a16:creationId xmlns:a16="http://schemas.microsoft.com/office/drawing/2014/main" id="{61BEEC28-F63A-4526-A6C3-33CFC7679C23}"/>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5334000" y="-37306"/>
              <a:ext cx="819150" cy="895350"/>
            </a:xfrm>
            <a:prstGeom prst="rect">
              <a:avLst/>
            </a:prstGeom>
          </p:spPr>
        </p:pic>
      </p:grpSp>
      <p:sp>
        <p:nvSpPr>
          <p:cNvPr id="22" name="Title Placeholder 21"/>
          <p:cNvSpPr>
            <a:spLocks noGrp="1"/>
          </p:cNvSpPr>
          <p:nvPr>
            <p:ph type="title"/>
          </p:nvPr>
        </p:nvSpPr>
        <p:spPr>
          <a:xfrm>
            <a:off x="466725" y="381198"/>
            <a:ext cx="4638674" cy="675926"/>
          </a:xfrm>
          <a:prstGeom prst="rect">
            <a:avLst/>
          </a:prstGeom>
        </p:spPr>
        <p:txBody>
          <a:bodyPr vert="horz" lIns="0" rIns="0" anchor="ctr">
            <a:noAutofit/>
          </a:bodyPr>
          <a:lstStyle/>
          <a:p>
            <a:endParaRPr lang="en-US" dirty="0"/>
          </a:p>
        </p:txBody>
      </p:sp>
      <p:sp>
        <p:nvSpPr>
          <p:cNvPr id="13" name="Text Placeholder 12"/>
          <p:cNvSpPr>
            <a:spLocks noGrp="1"/>
          </p:cNvSpPr>
          <p:nvPr>
            <p:ph type="body" idx="1"/>
          </p:nvPr>
        </p:nvSpPr>
        <p:spPr>
          <a:xfrm>
            <a:off x="457200" y="1566839"/>
            <a:ext cx="8229600" cy="4572000"/>
          </a:xfrm>
          <a:prstGeom prst="rect">
            <a:avLst/>
          </a:prstGeom>
        </p:spPr>
        <p:txBody>
          <a:bodyPr vert="horz" anchor="t">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2"/>
          <p:cNvSpPr>
            <a:spLocks noGrp="1"/>
          </p:cNvSpPr>
          <p:nvPr>
            <p:ph type="ftr" sz="quarter" idx="3"/>
          </p:nvPr>
        </p:nvSpPr>
        <p:spPr>
          <a:xfrm>
            <a:off x="5867400" y="174116"/>
            <a:ext cx="2212182" cy="300831"/>
          </a:xfrm>
          <a:prstGeom prst="rect">
            <a:avLst/>
          </a:prstGeom>
        </p:spPr>
        <p:txBody>
          <a:bodyPr vert="horz" anchor="b"/>
          <a:lstStyle>
            <a:lvl1pPr algn="r">
              <a:defRPr sz="1200">
                <a:solidFill>
                  <a:schemeClr val="bg2"/>
                </a:solidFill>
              </a:defRPr>
            </a:lvl1pPr>
          </a:lstStyle>
          <a:p>
            <a:r>
              <a:rPr lang="en-US" dirty="0"/>
              <a:t>www.website.com</a:t>
            </a:r>
          </a:p>
        </p:txBody>
      </p:sp>
      <p:sp>
        <p:nvSpPr>
          <p:cNvPr id="23" name="Slide Number Placeholder 22"/>
          <p:cNvSpPr>
            <a:spLocks noGrp="1"/>
          </p:cNvSpPr>
          <p:nvPr>
            <p:ph type="sldNum" sz="quarter" idx="4"/>
          </p:nvPr>
        </p:nvSpPr>
        <p:spPr>
          <a:xfrm>
            <a:off x="8183880" y="173195"/>
            <a:ext cx="502920" cy="301752"/>
          </a:xfrm>
          <a:prstGeom prst="rect">
            <a:avLst/>
          </a:prstGeom>
        </p:spPr>
        <p:txBody>
          <a:bodyPr vert="horz" anchor="b"/>
          <a:lstStyle>
            <a:lvl1pPr algn="ctr">
              <a:defRPr sz="1200" b="1">
                <a:solidFill>
                  <a:schemeClr val="bg2"/>
                </a:solidFill>
              </a:defRPr>
            </a:lvl1pPr>
          </a:lstStyle>
          <a:p>
            <a:fld id="{49598980-D22C-4904-9F8F-3DB09B2ECD84}" type="slidenum">
              <a:rPr lang="en-US" smtClean="0"/>
              <a:pPr/>
              <a:t>‹#›</a:t>
            </a:fld>
            <a:endParaRPr lang="en-US" dirty="0"/>
          </a:p>
        </p:txBody>
      </p:sp>
      <p:pic>
        <p:nvPicPr>
          <p:cNvPr id="21" name="Graphic 20">
            <a:extLst>
              <a:ext uri="{FF2B5EF4-FFF2-40B4-BE49-F238E27FC236}">
                <a16:creationId xmlns:a16="http://schemas.microsoft.com/office/drawing/2014/main" id="{41E45D2D-0469-4652-A090-C4D13F3C1502}"/>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0" y="5307178"/>
            <a:ext cx="1219200" cy="1550822"/>
          </a:xfrm>
          <a:prstGeom prst="rect">
            <a:avLst/>
          </a:prstGeom>
        </p:spPr>
      </p:pic>
      <p:pic>
        <p:nvPicPr>
          <p:cNvPr id="27" name="Graphic 26">
            <a:extLst>
              <a:ext uri="{FF2B5EF4-FFF2-40B4-BE49-F238E27FC236}">
                <a16:creationId xmlns:a16="http://schemas.microsoft.com/office/drawing/2014/main" id="{16C04FF8-AE2F-4C75-8657-A2201B951971}"/>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16459" y="4545317"/>
            <a:ext cx="1248460" cy="1570328"/>
          </a:xfrm>
          <a:prstGeom prst="rect">
            <a:avLst/>
          </a:prstGeom>
        </p:spPr>
      </p:pic>
    </p:spTree>
  </p:cSld>
  <p:clrMap bg1="dk1" tx1="lt1" bg2="dk2" tx2="lt2" accent1="accent1" accent2="accent2" accent3="accent3" accent4="accent4" accent5="accent5" accent6="accent6" hlink="hlink" folHlink="folHlink"/>
  <p:sldLayoutIdLst>
    <p:sldLayoutId id="2147483649" r:id="rId1"/>
    <p:sldLayoutId id="2147483650" r:id="rId2"/>
    <p:sldLayoutId id="2147483657" r:id="rId3"/>
    <p:sldLayoutId id="2147483652" r:id="rId4"/>
    <p:sldLayoutId id="2147483656" r:id="rId5"/>
  </p:sldLayoutIdLst>
  <p:txStyles>
    <p:titleStyle>
      <a:lvl1pPr marL="182880" algn="l" rtl="0" eaLnBrk="1" latinLnBrk="0" hangingPunct="1">
        <a:spcBef>
          <a:spcPct val="0"/>
        </a:spcBef>
        <a:buNone/>
        <a:defRPr sz="4000" b="1" kern="1200">
          <a:ln w="6350">
            <a:noFill/>
          </a:ln>
          <a:solidFill>
            <a:schemeClr val="accent1"/>
          </a:solidFill>
          <a:effectLst/>
          <a:latin typeface="+mj-lt"/>
          <a:ea typeface="+mj-ea"/>
          <a:cs typeface="+mj-cs"/>
        </a:defRPr>
      </a:lvl1pPr>
    </p:titleStyle>
    <p:bodyStyle>
      <a:lvl1pPr marL="448056" indent="-384048" algn="l" rtl="0" eaLnBrk="1" latinLnBrk="0" hangingPunct="1">
        <a:spcBef>
          <a:spcPct val="20000"/>
        </a:spcBef>
        <a:spcAft>
          <a:spcPts val="1000"/>
        </a:spcAft>
        <a:buClr>
          <a:schemeClr val="accent1"/>
        </a:buClr>
        <a:buSzPct val="80000"/>
        <a:buFont typeface="Arial" panose="020B0604020202020204" pitchFamily="34" charset="0"/>
        <a:buChar char="•"/>
        <a:defRPr sz="2800" kern="1200">
          <a:solidFill>
            <a:schemeClr val="bg2"/>
          </a:solidFill>
          <a:latin typeface="+mn-lt"/>
          <a:ea typeface="+mn-ea"/>
          <a:cs typeface="+mn-cs"/>
        </a:defRPr>
      </a:lvl1pPr>
      <a:lvl2pPr marL="822960" indent="-285750" algn="l" rtl="0" eaLnBrk="1" latinLnBrk="0" hangingPunct="1">
        <a:spcBef>
          <a:spcPct val="20000"/>
        </a:spcBef>
        <a:spcAft>
          <a:spcPts val="1000"/>
        </a:spcAft>
        <a:buClr>
          <a:schemeClr val="accent1"/>
        </a:buClr>
        <a:buSzPct val="95000"/>
        <a:buFont typeface="Arial" panose="020B0604020202020204" pitchFamily="34" charset="0"/>
        <a:buChar char="•"/>
        <a:defRPr sz="2400" kern="1200">
          <a:solidFill>
            <a:schemeClr val="bg2"/>
          </a:solidFill>
          <a:latin typeface="+mn-lt"/>
          <a:ea typeface="+mn-ea"/>
          <a:cs typeface="+mn-cs"/>
        </a:defRPr>
      </a:lvl2pPr>
      <a:lvl3pPr marL="1106424" indent="-228600" algn="l" rtl="0" eaLnBrk="1" latinLnBrk="0" hangingPunct="1">
        <a:spcBef>
          <a:spcPct val="20000"/>
        </a:spcBef>
        <a:spcAft>
          <a:spcPts val="1000"/>
        </a:spcAft>
        <a:buClr>
          <a:schemeClr val="accent1"/>
        </a:buClr>
        <a:buFont typeface="Arial" panose="020B0604020202020204" pitchFamily="34" charset="0"/>
        <a:buChar char="•"/>
        <a:defRPr sz="2000" kern="1200">
          <a:solidFill>
            <a:schemeClr val="bg2"/>
          </a:solidFill>
          <a:latin typeface="+mn-lt"/>
          <a:ea typeface="+mn-ea"/>
          <a:cs typeface="+mn-cs"/>
        </a:defRPr>
      </a:lvl3pPr>
      <a:lvl4pPr marL="1371600" indent="-210312" algn="l" rtl="0" eaLnBrk="1" latinLnBrk="0" hangingPunct="1">
        <a:spcBef>
          <a:spcPct val="20000"/>
        </a:spcBef>
        <a:spcAft>
          <a:spcPts val="1000"/>
        </a:spcAft>
        <a:buClr>
          <a:schemeClr val="accent1"/>
        </a:buClr>
        <a:buFont typeface="Arial" panose="020B0604020202020204" pitchFamily="34" charset="0"/>
        <a:buChar char="•"/>
        <a:defRPr sz="1800" kern="1200">
          <a:solidFill>
            <a:schemeClr val="bg2"/>
          </a:solidFill>
          <a:latin typeface="+mn-lt"/>
          <a:ea typeface="+mn-ea"/>
          <a:cs typeface="+mn-cs"/>
        </a:defRPr>
      </a:lvl4pPr>
      <a:lvl5pPr marL="1600200" indent="-210312" algn="l" rtl="0" eaLnBrk="1" latinLnBrk="0" hangingPunct="1">
        <a:spcBef>
          <a:spcPct val="20000"/>
        </a:spcBef>
        <a:spcAft>
          <a:spcPts val="1000"/>
        </a:spcAft>
        <a:buClr>
          <a:schemeClr val="accent1"/>
        </a:buClr>
        <a:buFont typeface="Arial" panose="020B0604020202020204" pitchFamily="34" charset="0"/>
        <a:buChar char="•"/>
        <a:defRPr sz="1800" kern="1200">
          <a:solidFill>
            <a:schemeClr val="bg2"/>
          </a:solidFill>
          <a:latin typeface="+mn-lt"/>
          <a:ea typeface="+mn-ea"/>
          <a:cs typeface="+mn-cs"/>
        </a:defRPr>
      </a:lvl5pPr>
      <a:lvl6pPr marL="1828800" indent="-210312" algn="l" rtl="0" eaLnBrk="1" latinLnBrk="0" hangingPunct="1">
        <a:spcBef>
          <a:spcPct val="20000"/>
        </a:spcBef>
        <a:buClr>
          <a:schemeClr val="accent1">
            <a:tint val="75000"/>
          </a:schemeClr>
        </a:buClr>
        <a:buFont typeface="Wingdings 2"/>
        <a:buChar char=""/>
        <a:defRPr sz="1800" kern="1200">
          <a:solidFill>
            <a:schemeClr val="tx1"/>
          </a:solidFill>
          <a:latin typeface="+mn-lt"/>
          <a:ea typeface="+mn-ea"/>
          <a:cs typeface="+mn-cs"/>
        </a:defRPr>
      </a:lvl6pPr>
      <a:lvl7pPr marL="2084832" indent="-210312" algn="l" rtl="0" eaLnBrk="1" latinLnBrk="0" hangingPunct="1">
        <a:spcBef>
          <a:spcPct val="20000"/>
        </a:spcBef>
        <a:buClr>
          <a:schemeClr val="accent1">
            <a:tint val="75000"/>
          </a:schemeClr>
        </a:buClr>
        <a:buFont typeface="Wingdings 2"/>
        <a:buChar char=""/>
        <a:defRPr sz="1600" kern="1200">
          <a:solidFill>
            <a:schemeClr val="tx1"/>
          </a:solidFill>
          <a:latin typeface="+mn-lt"/>
          <a:ea typeface="+mn-ea"/>
          <a:cs typeface="+mn-cs"/>
        </a:defRPr>
      </a:lvl7pPr>
      <a:lvl8pPr marL="2286000" indent="-182880" algn="l" rtl="0" eaLnBrk="1" latinLnBrk="0" hangingPunct="1">
        <a:spcBef>
          <a:spcPct val="20000"/>
        </a:spcBef>
        <a:buClr>
          <a:schemeClr val="accent1">
            <a:tint val="75000"/>
          </a:schemeClr>
        </a:buClr>
        <a:buFont typeface="Wingdings 2"/>
        <a:buChar char=""/>
        <a:defRPr sz="1600" kern="1200">
          <a:solidFill>
            <a:schemeClr val="tx1"/>
          </a:solidFill>
          <a:latin typeface="+mn-lt"/>
          <a:ea typeface="+mn-ea"/>
          <a:cs typeface="+mn-cs"/>
        </a:defRPr>
      </a:lvl8pPr>
      <a:lvl9pPr marL="2514600" indent="-182880" algn="l" rtl="0" eaLnBrk="1" latinLnBrk="0" hangingPunct="1">
        <a:spcBef>
          <a:spcPct val="20000"/>
        </a:spcBef>
        <a:buClr>
          <a:schemeClr val="accent1">
            <a:tint val="75000"/>
          </a:schemeClr>
        </a:buClr>
        <a:buFont typeface="Wingdings 2"/>
        <a:buChar char=""/>
        <a:defRPr sz="1600" kern="1200">
          <a:solidFill>
            <a:schemeClr val="tx1"/>
          </a:solidFill>
          <a:latin typeface="+mn-lt"/>
          <a:ea typeface="+mn-ea"/>
          <a:cs typeface="+mn-cs"/>
        </a:defRPr>
      </a:lvl9pPr>
    </p:bodyStyle>
    <p:otherStyle>
      <a:lvl1pPr marL="0" algn="l" rtl="0" eaLnBrk="1" hangingPunct="1">
        <a:defRPr kern="1200">
          <a:solidFill>
            <a:schemeClr val="tx1"/>
          </a:solidFill>
          <a:latin typeface="+mn-lt"/>
          <a:ea typeface="+mn-ea"/>
          <a:cs typeface="+mn-cs"/>
        </a:defRPr>
      </a:lvl1pPr>
      <a:lvl2pPr marL="457200" algn="l" rtl="0" eaLnBrk="1" hangingPunct="1">
        <a:defRPr kern="1200">
          <a:solidFill>
            <a:schemeClr val="tx1"/>
          </a:solidFill>
          <a:latin typeface="+mn-lt"/>
          <a:ea typeface="+mn-ea"/>
          <a:cs typeface="+mn-cs"/>
        </a:defRPr>
      </a:lvl2pPr>
      <a:lvl3pPr marL="914400" algn="l" rtl="0" eaLnBrk="1" hangingPunct="1">
        <a:defRPr kern="1200">
          <a:solidFill>
            <a:schemeClr val="tx1"/>
          </a:solidFill>
          <a:latin typeface="+mn-lt"/>
          <a:ea typeface="+mn-ea"/>
          <a:cs typeface="+mn-cs"/>
        </a:defRPr>
      </a:lvl3pPr>
      <a:lvl4pPr marL="1371600" algn="l" rtl="0" eaLnBrk="1" hangingPunct="1">
        <a:defRPr kern="1200">
          <a:solidFill>
            <a:schemeClr val="tx1"/>
          </a:solidFill>
          <a:latin typeface="+mn-lt"/>
          <a:ea typeface="+mn-ea"/>
          <a:cs typeface="+mn-cs"/>
        </a:defRPr>
      </a:lvl4pPr>
      <a:lvl5pPr marL="1828800" algn="l" rtl="0" eaLnBrk="1" hangingPunct="1">
        <a:defRPr kern="1200">
          <a:solidFill>
            <a:schemeClr val="tx1"/>
          </a:solidFill>
          <a:latin typeface="+mn-lt"/>
          <a:ea typeface="+mn-ea"/>
          <a:cs typeface="+mn-cs"/>
        </a:defRPr>
      </a:lvl5pPr>
      <a:lvl6pPr marL="2286000" algn="l" rtl="0" eaLnBrk="1" hangingPunct="1">
        <a:defRPr kern="1200">
          <a:solidFill>
            <a:schemeClr val="tx1"/>
          </a:solidFill>
          <a:latin typeface="+mn-lt"/>
          <a:ea typeface="+mn-ea"/>
          <a:cs typeface="+mn-cs"/>
        </a:defRPr>
      </a:lvl6pPr>
      <a:lvl7pPr marL="2743200" algn="l" rtl="0" eaLnBrk="1" hangingPunct="1">
        <a:defRPr kern="1200">
          <a:solidFill>
            <a:schemeClr val="tx1"/>
          </a:solidFill>
          <a:latin typeface="+mn-lt"/>
          <a:ea typeface="+mn-ea"/>
          <a:cs typeface="+mn-cs"/>
        </a:defRPr>
      </a:lvl7pPr>
      <a:lvl8pPr marL="3200400" algn="l" rtl="0" eaLnBrk="1" hangingPunct="1">
        <a:defRPr kern="1200">
          <a:solidFill>
            <a:schemeClr val="tx1"/>
          </a:solidFill>
          <a:latin typeface="+mn-lt"/>
          <a:ea typeface="+mn-ea"/>
          <a:cs typeface="+mn-cs"/>
        </a:defRPr>
      </a:lvl8pPr>
      <a:lvl9pPr marL="3657600" algn="l" rtl="0" eaLnBrk="1" hangingPunct="1">
        <a:defRPr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ctrTitle"/>
          </p:nvPr>
        </p:nvSpPr>
        <p:spPr>
          <a:xfrm>
            <a:off x="2267744" y="1295400"/>
            <a:ext cx="6335712" cy="1425577"/>
          </a:xfrm>
        </p:spPr>
        <p:txBody>
          <a:bodyPr/>
          <a:lstStyle/>
          <a:p>
            <a:r>
              <a:rPr lang="hr-HR" dirty="0"/>
              <a:t>Schema2Script</a:t>
            </a:r>
            <a:endParaRPr lang="en-US" b="0" dirty="0"/>
          </a:p>
        </p:txBody>
      </p:sp>
      <p:sp>
        <p:nvSpPr>
          <p:cNvPr id="3" name="Rectangle 2"/>
          <p:cNvSpPr>
            <a:spLocks noGrp="1"/>
          </p:cNvSpPr>
          <p:nvPr>
            <p:ph type="subTitle" idx="1"/>
          </p:nvPr>
        </p:nvSpPr>
        <p:spPr>
          <a:xfrm>
            <a:off x="1979712" y="3849666"/>
            <a:ext cx="6623744" cy="1234575"/>
          </a:xfrm>
        </p:spPr>
        <p:txBody>
          <a:bodyPr>
            <a:normAutofit fontScale="92500" lnSpcReduction="20000"/>
          </a:bodyPr>
          <a:lstStyle/>
          <a:p>
            <a:pPr algn="r"/>
            <a:r>
              <a:rPr lang="en-US" dirty="0"/>
              <a:t>GROUP G2</a:t>
            </a:r>
          </a:p>
          <a:p>
            <a:pPr algn="r"/>
            <a:r>
              <a:rPr lang="en-US" dirty="0"/>
              <a:t>Kaucic Nik, Jakopovic Robert, Gobin Frane, Kosar Yigit, </a:t>
            </a:r>
            <a:r>
              <a:rPr lang="en-US" dirty="0" err="1"/>
              <a:t>Ozbahceci</a:t>
            </a:r>
            <a:r>
              <a:rPr lang="en-US" dirty="0"/>
              <a:t> Acar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72C8A365-AE09-2C40-9C44-12BCB6C8D9E7}"/>
              </a:ext>
            </a:extLst>
          </p:cNvPr>
          <p:cNvSpPr>
            <a:spLocks noGrp="1"/>
          </p:cNvSpPr>
          <p:nvPr>
            <p:ph idx="1"/>
          </p:nvPr>
        </p:nvSpPr>
        <p:spPr/>
        <p:txBody>
          <a:bodyPr>
            <a:normAutofit/>
          </a:bodyPr>
          <a:lstStyle/>
          <a:p>
            <a:r>
              <a:rPr lang="en-US" dirty="0"/>
              <a:t>Project Overview</a:t>
            </a:r>
          </a:p>
          <a:p>
            <a:r>
              <a:rPr lang="en-US" dirty="0"/>
              <a:t>Demonstration</a:t>
            </a:r>
          </a:p>
          <a:p>
            <a:r>
              <a:rPr lang="en-US" dirty="0"/>
              <a:t>Abstracted Input</a:t>
            </a:r>
          </a:p>
          <a:p>
            <a:r>
              <a:rPr lang="en-US" dirty="0"/>
              <a:t>Abstracted Output</a:t>
            </a:r>
          </a:p>
          <a:p>
            <a:r>
              <a:rPr lang="en-US" dirty="0"/>
              <a:t>SonarQube Analysis</a:t>
            </a:r>
          </a:p>
          <a:p>
            <a:r>
              <a:rPr lang="en-US" dirty="0"/>
              <a:t>Reflection</a:t>
            </a:r>
          </a:p>
        </p:txBody>
      </p:sp>
      <p:sp>
        <p:nvSpPr>
          <p:cNvPr id="6" name="Footer Placeholder 4">
            <a:extLst>
              <a:ext uri="{FF2B5EF4-FFF2-40B4-BE49-F238E27FC236}">
                <a16:creationId xmlns:a16="http://schemas.microsoft.com/office/drawing/2014/main" id="{855D0777-B08C-4808-A096-0F7AA6935459}"/>
              </a:ext>
            </a:extLst>
          </p:cNvPr>
          <p:cNvSpPr>
            <a:spLocks noGrp="1"/>
          </p:cNvSpPr>
          <p:nvPr>
            <p:ph type="ftr" sz="quarter" idx="11"/>
          </p:nvPr>
        </p:nvSpPr>
        <p:spPr/>
        <p:txBody>
          <a:bodyPr/>
          <a:lstStyle>
            <a:lvl1pPr>
              <a:defRPr/>
            </a:lvl1pPr>
          </a:lstStyle>
          <a:p>
            <a:r>
              <a:rPr lang="en-US" dirty="0"/>
              <a:t>Edge Converter Review</a:t>
            </a:r>
          </a:p>
        </p:txBody>
      </p:sp>
      <p:sp>
        <p:nvSpPr>
          <p:cNvPr id="7" name="Slide Number Placeholder 5">
            <a:extLst>
              <a:ext uri="{FF2B5EF4-FFF2-40B4-BE49-F238E27FC236}">
                <a16:creationId xmlns:a16="http://schemas.microsoft.com/office/drawing/2014/main" id="{B8FCD5F1-B09D-4B0A-BB07-423B979A624C}"/>
              </a:ext>
            </a:extLst>
          </p:cNvPr>
          <p:cNvSpPr>
            <a:spLocks noGrp="1"/>
          </p:cNvSpPr>
          <p:nvPr>
            <p:ph type="sldNum" sz="quarter" idx="12"/>
          </p:nvPr>
        </p:nvSpPr>
        <p:spPr/>
        <p:txBody>
          <a:bodyPr/>
          <a:lstStyle/>
          <a:p>
            <a:fld id="{FEA1243F-3000-4347-94A4-FBDEAD3122CB}"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5DBDF-0D5C-49EA-8DEF-EB819F7BFD51}"/>
              </a:ext>
            </a:extLst>
          </p:cNvPr>
          <p:cNvSpPr>
            <a:spLocks noGrp="1"/>
          </p:cNvSpPr>
          <p:nvPr>
            <p:ph type="title"/>
          </p:nvPr>
        </p:nvSpPr>
        <p:spPr/>
        <p:txBody>
          <a:bodyPr/>
          <a:lstStyle/>
          <a:p>
            <a:r>
              <a:rPr lang="hr-HR" dirty="0"/>
              <a:t>Project </a:t>
            </a:r>
            <a:r>
              <a:rPr lang="hr-HR" dirty="0" err="1"/>
              <a:t>Overview</a:t>
            </a:r>
            <a:endParaRPr lang="en-US" dirty="0"/>
          </a:p>
        </p:txBody>
      </p:sp>
      <p:sp>
        <p:nvSpPr>
          <p:cNvPr id="3" name="Content Placeholder 2">
            <a:extLst>
              <a:ext uri="{FF2B5EF4-FFF2-40B4-BE49-F238E27FC236}">
                <a16:creationId xmlns:a16="http://schemas.microsoft.com/office/drawing/2014/main" id="{76E76B2F-9F12-4CDF-929C-FF8825547070}"/>
              </a:ext>
            </a:extLst>
          </p:cNvPr>
          <p:cNvSpPr>
            <a:spLocks noGrp="1"/>
          </p:cNvSpPr>
          <p:nvPr>
            <p:ph idx="1"/>
          </p:nvPr>
        </p:nvSpPr>
        <p:spPr/>
        <p:txBody>
          <a:bodyPr>
            <a:normAutofit/>
          </a:bodyPr>
          <a:lstStyle/>
          <a:p>
            <a:r>
              <a:rPr lang="en-US" dirty="0"/>
              <a:t>Java tool converting JSON/XML schemas into SQL DDL scripts</a:t>
            </a:r>
          </a:p>
          <a:p>
            <a:r>
              <a:rPr lang="en-US" dirty="0"/>
              <a:t>Supports MySQL, PostgreSQL, Oracle</a:t>
            </a:r>
          </a:p>
          <a:p>
            <a:r>
              <a:rPr lang="en-US" dirty="0"/>
              <a:t>Factory-based parser + generator architecture</a:t>
            </a:r>
          </a:p>
          <a:p>
            <a:r>
              <a:rPr lang="en-US" dirty="0"/>
              <a:t>Swing GUI for file upload, schema visualization, and live editing</a:t>
            </a:r>
          </a:p>
          <a:p>
            <a:r>
              <a:rPr lang="en-US" dirty="0"/>
              <a:t>Real-time SQL generation + automatic saving to project directory</a:t>
            </a:r>
          </a:p>
        </p:txBody>
      </p:sp>
    </p:spTree>
    <p:extLst>
      <p:ext uri="{BB962C8B-B14F-4D97-AF65-F5344CB8AC3E}">
        <p14:creationId xmlns:p14="http://schemas.microsoft.com/office/powerpoint/2010/main" val="20289053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2B5A5-28B0-8CEB-7A3E-41EE3F04D6DA}"/>
              </a:ext>
            </a:extLst>
          </p:cNvPr>
          <p:cNvSpPr>
            <a:spLocks noGrp="1"/>
          </p:cNvSpPr>
          <p:nvPr>
            <p:ph type="title"/>
          </p:nvPr>
        </p:nvSpPr>
        <p:spPr/>
        <p:txBody>
          <a:bodyPr/>
          <a:lstStyle/>
          <a:p>
            <a:r>
              <a:rPr lang="en-US" dirty="0"/>
              <a:t>Demonstration</a:t>
            </a:r>
          </a:p>
        </p:txBody>
      </p:sp>
      <p:sp>
        <p:nvSpPr>
          <p:cNvPr id="3" name="Content Placeholder 2">
            <a:extLst>
              <a:ext uri="{FF2B5EF4-FFF2-40B4-BE49-F238E27FC236}">
                <a16:creationId xmlns:a16="http://schemas.microsoft.com/office/drawing/2014/main" id="{DFD5AAC1-4683-40B8-CEE5-C461CEF50E1A}"/>
              </a:ext>
            </a:extLst>
          </p:cNvPr>
          <p:cNvSpPr>
            <a:spLocks noGrp="1"/>
          </p:cNvSpPr>
          <p:nvPr>
            <p:ph idx="1"/>
          </p:nvPr>
        </p:nvSpPr>
        <p:spPr/>
        <p:txBody>
          <a:bodyPr>
            <a:normAutofit/>
          </a:bodyPr>
          <a:lstStyle/>
          <a:p>
            <a:endParaRPr lang="en-US" dirty="0"/>
          </a:p>
        </p:txBody>
      </p:sp>
    </p:spTree>
    <p:extLst>
      <p:ext uri="{BB962C8B-B14F-4D97-AF65-F5344CB8AC3E}">
        <p14:creationId xmlns:p14="http://schemas.microsoft.com/office/powerpoint/2010/main" val="3405089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DCECA-C63F-4662-BDF0-7774B7380043}"/>
              </a:ext>
            </a:extLst>
          </p:cNvPr>
          <p:cNvSpPr>
            <a:spLocks noGrp="1"/>
          </p:cNvSpPr>
          <p:nvPr>
            <p:ph type="title"/>
          </p:nvPr>
        </p:nvSpPr>
        <p:spPr>
          <a:xfrm>
            <a:off x="457200" y="365395"/>
            <a:ext cx="6347048" cy="799306"/>
          </a:xfrm>
        </p:spPr>
        <p:txBody>
          <a:bodyPr/>
          <a:lstStyle/>
          <a:p>
            <a:r>
              <a:rPr lang="en-US" dirty="0"/>
              <a:t>Abstracted Input</a:t>
            </a:r>
          </a:p>
        </p:txBody>
      </p:sp>
      <p:sp>
        <p:nvSpPr>
          <p:cNvPr id="3" name="Content Placeholder 2">
            <a:extLst>
              <a:ext uri="{FF2B5EF4-FFF2-40B4-BE49-F238E27FC236}">
                <a16:creationId xmlns:a16="http://schemas.microsoft.com/office/drawing/2014/main" id="{D5C7CCBC-5DA1-4AF8-9DA3-AC067778C539}"/>
              </a:ext>
            </a:extLst>
          </p:cNvPr>
          <p:cNvSpPr>
            <a:spLocks noGrp="1"/>
          </p:cNvSpPr>
          <p:nvPr>
            <p:ph idx="1"/>
          </p:nvPr>
        </p:nvSpPr>
        <p:spPr/>
        <p:txBody>
          <a:bodyPr>
            <a:normAutofit fontScale="92500"/>
          </a:bodyPr>
          <a:lstStyle/>
          <a:p>
            <a:r>
              <a:rPr lang="en-US" dirty="0"/>
              <a:t>JSON and XML supported through unified parser interface</a:t>
            </a:r>
          </a:p>
          <a:p>
            <a:r>
              <a:rPr lang="en-US" dirty="0" err="1"/>
              <a:t>SchemaParser</a:t>
            </a:r>
            <a:r>
              <a:rPr lang="en-US" dirty="0"/>
              <a:t> defines the contract for all parsers</a:t>
            </a:r>
          </a:p>
          <a:p>
            <a:r>
              <a:rPr lang="en-US" dirty="0" err="1"/>
              <a:t>ParserFactory</a:t>
            </a:r>
            <a:r>
              <a:rPr lang="en-US" dirty="0"/>
              <a:t> selects correct parser based on file type</a:t>
            </a:r>
          </a:p>
          <a:p>
            <a:r>
              <a:rPr lang="en-US" dirty="0"/>
              <a:t>Both parsers produce a unified </a:t>
            </a:r>
            <a:r>
              <a:rPr lang="en-US" dirty="0" err="1"/>
              <a:t>SchemaModel</a:t>
            </a:r>
            <a:endParaRPr lang="en-US" dirty="0"/>
          </a:p>
          <a:p>
            <a:r>
              <a:rPr lang="en-US" dirty="0"/>
              <a:t>Controller handles file loading and triggers parsing</a:t>
            </a:r>
          </a:p>
          <a:p>
            <a:r>
              <a:rPr lang="en-US" dirty="0"/>
              <a:t>Model passed to GUI for visualization &amp; editing</a:t>
            </a:r>
          </a:p>
          <a:p>
            <a:endParaRPr lang="en-US" dirty="0"/>
          </a:p>
        </p:txBody>
      </p:sp>
    </p:spTree>
    <p:extLst>
      <p:ext uri="{BB962C8B-B14F-4D97-AF65-F5344CB8AC3E}">
        <p14:creationId xmlns:p14="http://schemas.microsoft.com/office/powerpoint/2010/main" val="519208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8E6C0-4D88-9571-92E4-99B899B6B8F5}"/>
              </a:ext>
            </a:extLst>
          </p:cNvPr>
          <p:cNvSpPr>
            <a:spLocks noGrp="1"/>
          </p:cNvSpPr>
          <p:nvPr>
            <p:ph type="title"/>
          </p:nvPr>
        </p:nvSpPr>
        <p:spPr/>
        <p:txBody>
          <a:bodyPr/>
          <a:lstStyle/>
          <a:p>
            <a:r>
              <a:rPr lang="en-US" dirty="0"/>
              <a:t>Abstracted Output</a:t>
            </a:r>
          </a:p>
        </p:txBody>
      </p:sp>
      <p:sp>
        <p:nvSpPr>
          <p:cNvPr id="3" name="Content Placeholder 2">
            <a:extLst>
              <a:ext uri="{FF2B5EF4-FFF2-40B4-BE49-F238E27FC236}">
                <a16:creationId xmlns:a16="http://schemas.microsoft.com/office/drawing/2014/main" id="{69F99393-CEBC-4ED1-328B-2BB8203C7F2E}"/>
              </a:ext>
            </a:extLst>
          </p:cNvPr>
          <p:cNvSpPr>
            <a:spLocks noGrp="1"/>
          </p:cNvSpPr>
          <p:nvPr>
            <p:ph idx="1"/>
          </p:nvPr>
        </p:nvSpPr>
        <p:spPr/>
        <p:txBody>
          <a:bodyPr>
            <a:normAutofit fontScale="85000" lnSpcReduction="10000"/>
          </a:bodyPr>
          <a:lstStyle/>
          <a:p>
            <a:r>
              <a:rPr lang="en-US" dirty="0"/>
              <a:t>SQL generation handled through </a:t>
            </a:r>
            <a:r>
              <a:rPr lang="en-US" dirty="0" err="1"/>
              <a:t>SqlGenerator</a:t>
            </a:r>
            <a:r>
              <a:rPr lang="en-US" dirty="0"/>
              <a:t> interface</a:t>
            </a:r>
          </a:p>
          <a:p>
            <a:r>
              <a:rPr lang="en-US" dirty="0"/>
              <a:t>Factory selects MySQL, PostgreSQL, or Oracle generator</a:t>
            </a:r>
          </a:p>
          <a:p>
            <a:r>
              <a:rPr lang="en-US" dirty="0"/>
              <a:t>Generators transform the unified </a:t>
            </a:r>
            <a:r>
              <a:rPr lang="en-US" dirty="0" err="1"/>
              <a:t>SchemaModel</a:t>
            </a:r>
            <a:r>
              <a:rPr lang="en-US" dirty="0"/>
              <a:t> into DDL</a:t>
            </a:r>
          </a:p>
          <a:p>
            <a:r>
              <a:rPr lang="en-US" dirty="0"/>
              <a:t>GUI triggers generation based on selected DBMS</a:t>
            </a:r>
          </a:p>
          <a:p>
            <a:r>
              <a:rPr lang="en-US" dirty="0"/>
              <a:t>Output displayed in UI + saved to target/generated/</a:t>
            </a:r>
            <a:r>
              <a:rPr lang="en-US" dirty="0" err="1"/>
              <a:t>schema.sql</a:t>
            </a:r>
            <a:endParaRPr lang="en-US" dirty="0"/>
          </a:p>
          <a:p>
            <a:r>
              <a:rPr lang="en-US" dirty="0"/>
              <a:t>Consistent, extensible architecture for adding new DBMS types</a:t>
            </a:r>
          </a:p>
          <a:p>
            <a:endParaRPr lang="en-US" dirty="0"/>
          </a:p>
        </p:txBody>
      </p:sp>
    </p:spTree>
    <p:extLst>
      <p:ext uri="{BB962C8B-B14F-4D97-AF65-F5344CB8AC3E}">
        <p14:creationId xmlns:p14="http://schemas.microsoft.com/office/powerpoint/2010/main" val="35995330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1B43D-32F0-FBDE-9EE6-FD0413AAFB79}"/>
              </a:ext>
            </a:extLst>
          </p:cNvPr>
          <p:cNvSpPr>
            <a:spLocks noGrp="1"/>
          </p:cNvSpPr>
          <p:nvPr>
            <p:ph type="title"/>
          </p:nvPr>
        </p:nvSpPr>
        <p:spPr/>
        <p:txBody>
          <a:bodyPr/>
          <a:lstStyle/>
          <a:p>
            <a:r>
              <a:rPr lang="en-US" dirty="0"/>
              <a:t>Class Diagram</a:t>
            </a:r>
          </a:p>
        </p:txBody>
      </p:sp>
      <p:pic>
        <p:nvPicPr>
          <p:cNvPr id="5" name="Content Placeholder 4" descr="A black screen with white text&#10;&#10;AI-generated content may be incorrect.">
            <a:extLst>
              <a:ext uri="{FF2B5EF4-FFF2-40B4-BE49-F238E27FC236}">
                <a16:creationId xmlns:a16="http://schemas.microsoft.com/office/drawing/2014/main" id="{D335FF0E-C5A5-65B9-6CDE-E83FABB0886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69143" y="1600200"/>
            <a:ext cx="5805714" cy="4572000"/>
          </a:xfrm>
        </p:spPr>
      </p:pic>
    </p:spTree>
    <p:extLst>
      <p:ext uri="{BB962C8B-B14F-4D97-AF65-F5344CB8AC3E}">
        <p14:creationId xmlns:p14="http://schemas.microsoft.com/office/powerpoint/2010/main" val="16790434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D72F8-0050-9B73-461B-8DAD2D46EFDA}"/>
              </a:ext>
            </a:extLst>
          </p:cNvPr>
          <p:cNvSpPr>
            <a:spLocks noGrp="1"/>
          </p:cNvSpPr>
          <p:nvPr>
            <p:ph type="title"/>
          </p:nvPr>
        </p:nvSpPr>
        <p:spPr/>
        <p:txBody>
          <a:bodyPr/>
          <a:lstStyle/>
          <a:p>
            <a:r>
              <a:rPr lang="en-US" dirty="0"/>
              <a:t>Sequence Diagram</a:t>
            </a:r>
          </a:p>
        </p:txBody>
      </p:sp>
      <p:pic>
        <p:nvPicPr>
          <p:cNvPr id="5" name="Content Placeholder 4" descr="A screenshot of a computer&#10;&#10;AI-generated content may be incorrect.">
            <a:extLst>
              <a:ext uri="{FF2B5EF4-FFF2-40B4-BE49-F238E27FC236}">
                <a16:creationId xmlns:a16="http://schemas.microsoft.com/office/drawing/2014/main" id="{91EB486E-6650-657C-D5C0-8E2CA9FBA61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1164701"/>
            <a:ext cx="9144000" cy="5693299"/>
          </a:xfrm>
        </p:spPr>
      </p:pic>
    </p:spTree>
    <p:extLst>
      <p:ext uri="{BB962C8B-B14F-4D97-AF65-F5344CB8AC3E}">
        <p14:creationId xmlns:p14="http://schemas.microsoft.com/office/powerpoint/2010/main" val="8952758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139C0-3C70-09AD-3373-8F78D29EC20A}"/>
              </a:ext>
            </a:extLst>
          </p:cNvPr>
          <p:cNvSpPr>
            <a:spLocks noGrp="1"/>
          </p:cNvSpPr>
          <p:nvPr>
            <p:ph type="title"/>
          </p:nvPr>
        </p:nvSpPr>
        <p:spPr>
          <a:xfrm>
            <a:off x="457200" y="365395"/>
            <a:ext cx="5482952" cy="799306"/>
          </a:xfrm>
        </p:spPr>
        <p:txBody>
          <a:bodyPr/>
          <a:lstStyle/>
          <a:p>
            <a:r>
              <a:rPr lang="en-US" dirty="0"/>
              <a:t>SonarQube Analysis</a:t>
            </a:r>
          </a:p>
        </p:txBody>
      </p:sp>
      <p:pic>
        <p:nvPicPr>
          <p:cNvPr id="9" name="Content Placeholder 8" descr="A screenshot of a phone&#10;&#10;AI-generated content may be incorrect.">
            <a:extLst>
              <a:ext uri="{FF2B5EF4-FFF2-40B4-BE49-F238E27FC236}">
                <a16:creationId xmlns:a16="http://schemas.microsoft.com/office/drawing/2014/main" id="{FD4C0351-3BD6-7F60-FDEC-CC71B26EF1D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57200" y="3130514"/>
            <a:ext cx="8229600" cy="1511371"/>
          </a:xfrm>
        </p:spPr>
      </p:pic>
    </p:spTree>
    <p:extLst>
      <p:ext uri="{BB962C8B-B14F-4D97-AF65-F5344CB8AC3E}">
        <p14:creationId xmlns:p14="http://schemas.microsoft.com/office/powerpoint/2010/main" val="15539048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6ACA9-31F0-8C4E-148B-2ADDC16B7BD6}"/>
              </a:ext>
            </a:extLst>
          </p:cNvPr>
          <p:cNvSpPr>
            <a:spLocks noGrp="1"/>
          </p:cNvSpPr>
          <p:nvPr>
            <p:ph type="title"/>
          </p:nvPr>
        </p:nvSpPr>
        <p:spPr>
          <a:xfrm>
            <a:off x="457200" y="365395"/>
            <a:ext cx="7643192" cy="799306"/>
          </a:xfrm>
        </p:spPr>
        <p:txBody>
          <a:bodyPr/>
          <a:lstStyle/>
          <a:p>
            <a:r>
              <a:rPr lang="en-US" dirty="0"/>
              <a:t>Reflection – What Is Missing</a:t>
            </a:r>
          </a:p>
        </p:txBody>
      </p:sp>
      <p:sp>
        <p:nvSpPr>
          <p:cNvPr id="3" name="Content Placeholder 2">
            <a:extLst>
              <a:ext uri="{FF2B5EF4-FFF2-40B4-BE49-F238E27FC236}">
                <a16:creationId xmlns:a16="http://schemas.microsoft.com/office/drawing/2014/main" id="{AA201A31-312E-9DE2-11A5-17F4BF39FE1B}"/>
              </a:ext>
            </a:extLst>
          </p:cNvPr>
          <p:cNvSpPr>
            <a:spLocks noGrp="1"/>
          </p:cNvSpPr>
          <p:nvPr>
            <p:ph idx="1"/>
          </p:nvPr>
        </p:nvSpPr>
        <p:spPr/>
        <p:txBody>
          <a:bodyPr>
            <a:normAutofit lnSpcReduction="10000"/>
          </a:bodyPr>
          <a:lstStyle/>
          <a:p>
            <a:r>
              <a:rPr lang="en-US" dirty="0"/>
              <a:t>Relationship visualization in the GUI</a:t>
            </a:r>
          </a:p>
          <a:p>
            <a:r>
              <a:rPr lang="en-US" dirty="0"/>
              <a:t>Drag-and-drop schema editing</a:t>
            </a:r>
          </a:p>
          <a:p>
            <a:r>
              <a:rPr lang="en-US" dirty="0"/>
              <a:t>Undo/redo functionality</a:t>
            </a:r>
          </a:p>
          <a:p>
            <a:r>
              <a:rPr lang="en-US" dirty="0"/>
              <a:t>Exporting edited schema back into JSON/XML</a:t>
            </a:r>
          </a:p>
          <a:p>
            <a:r>
              <a:rPr lang="en-US" dirty="0"/>
              <a:t>More advanced SQL formatting options</a:t>
            </a:r>
          </a:p>
          <a:p>
            <a:r>
              <a:rPr lang="en-US" dirty="0"/>
              <a:t>Configurable output file location</a:t>
            </a:r>
          </a:p>
          <a:p>
            <a:r>
              <a:rPr lang="en-US" dirty="0"/>
              <a:t>Additional DBMS generators (e.g., SQL Server, SQLite)</a:t>
            </a:r>
          </a:p>
          <a:p>
            <a:endParaRPr lang="en-US" dirty="0"/>
          </a:p>
        </p:txBody>
      </p:sp>
    </p:spTree>
    <p:extLst>
      <p:ext uri="{BB962C8B-B14F-4D97-AF65-F5344CB8AC3E}">
        <p14:creationId xmlns:p14="http://schemas.microsoft.com/office/powerpoint/2010/main" val="5328431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A8A9B-6730-B269-A68B-14EB12927CAF}"/>
              </a:ext>
            </a:extLst>
          </p:cNvPr>
          <p:cNvSpPr>
            <a:spLocks noGrp="1"/>
          </p:cNvSpPr>
          <p:nvPr>
            <p:ph type="title"/>
          </p:nvPr>
        </p:nvSpPr>
        <p:spPr>
          <a:xfrm>
            <a:off x="457200" y="365394"/>
            <a:ext cx="8686800" cy="1695453"/>
          </a:xfrm>
        </p:spPr>
        <p:txBody>
          <a:bodyPr/>
          <a:lstStyle/>
          <a:p>
            <a:r>
              <a:rPr lang="en-US" dirty="0"/>
              <a:t>Reflection – What We Are Most Proud Of</a:t>
            </a:r>
            <a:br>
              <a:rPr lang="en-US" dirty="0"/>
            </a:br>
            <a:endParaRPr lang="en-US" dirty="0"/>
          </a:p>
        </p:txBody>
      </p:sp>
      <p:sp>
        <p:nvSpPr>
          <p:cNvPr id="3" name="Content Placeholder 2">
            <a:extLst>
              <a:ext uri="{FF2B5EF4-FFF2-40B4-BE49-F238E27FC236}">
                <a16:creationId xmlns:a16="http://schemas.microsoft.com/office/drawing/2014/main" id="{8C3A5BC3-BA39-E387-63A6-B6593647F611}"/>
              </a:ext>
            </a:extLst>
          </p:cNvPr>
          <p:cNvSpPr>
            <a:spLocks noGrp="1"/>
          </p:cNvSpPr>
          <p:nvPr>
            <p:ph idx="1"/>
          </p:nvPr>
        </p:nvSpPr>
        <p:spPr/>
        <p:txBody>
          <a:bodyPr>
            <a:normAutofit fontScale="92500" lnSpcReduction="20000"/>
          </a:bodyPr>
          <a:lstStyle/>
          <a:p>
            <a:r>
              <a:rPr lang="en-US" dirty="0"/>
              <a:t>Fully working end-to-end pipeline (parse → edit → generate SQL)</a:t>
            </a:r>
          </a:p>
          <a:p>
            <a:r>
              <a:rPr lang="en-US" dirty="0"/>
              <a:t>Clean modular architecture with factories and interfaces</a:t>
            </a:r>
          </a:p>
          <a:p>
            <a:r>
              <a:rPr lang="en-US" dirty="0"/>
              <a:t>Unified </a:t>
            </a:r>
            <a:r>
              <a:rPr lang="en-US" dirty="0" err="1"/>
              <a:t>SchemaModel</a:t>
            </a:r>
            <a:r>
              <a:rPr lang="en-US" dirty="0"/>
              <a:t> enabling consistent processing</a:t>
            </a:r>
          </a:p>
          <a:p>
            <a:r>
              <a:rPr lang="en-US" dirty="0"/>
              <a:t>Stable Swing-based editor with real-time updates</a:t>
            </a:r>
          </a:p>
          <a:p>
            <a:r>
              <a:rPr lang="en-US" dirty="0"/>
              <a:t>Reliable SQL generation for three DBMS systems</a:t>
            </a:r>
          </a:p>
          <a:p>
            <a:r>
              <a:rPr lang="en-US" dirty="0"/>
              <a:t>Strong team collaboration and consistent communication</a:t>
            </a:r>
          </a:p>
          <a:p>
            <a:endParaRPr lang="en-US" dirty="0"/>
          </a:p>
        </p:txBody>
      </p:sp>
    </p:spTree>
    <p:extLst>
      <p:ext uri="{BB962C8B-B14F-4D97-AF65-F5344CB8AC3E}">
        <p14:creationId xmlns:p14="http://schemas.microsoft.com/office/powerpoint/2010/main" val="12191669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76C52-685B-A1A7-F54E-BA9F88C5A7B2}"/>
              </a:ext>
            </a:extLst>
          </p:cNvPr>
          <p:cNvSpPr>
            <a:spLocks noGrp="1"/>
          </p:cNvSpPr>
          <p:nvPr>
            <p:ph type="title"/>
          </p:nvPr>
        </p:nvSpPr>
        <p:spPr>
          <a:xfrm>
            <a:off x="457200" y="365395"/>
            <a:ext cx="8229600" cy="799306"/>
          </a:xfrm>
        </p:spPr>
        <p:txBody>
          <a:bodyPr/>
          <a:lstStyle/>
          <a:p>
            <a:r>
              <a:rPr lang="en-US" dirty="0"/>
              <a:t>Reflection – What Could Have Been Done Better</a:t>
            </a:r>
          </a:p>
        </p:txBody>
      </p:sp>
      <p:sp>
        <p:nvSpPr>
          <p:cNvPr id="3" name="Content Placeholder 2">
            <a:extLst>
              <a:ext uri="{FF2B5EF4-FFF2-40B4-BE49-F238E27FC236}">
                <a16:creationId xmlns:a16="http://schemas.microsoft.com/office/drawing/2014/main" id="{E8F6836F-DD3A-1C12-EA86-65AEC95E541D}"/>
              </a:ext>
            </a:extLst>
          </p:cNvPr>
          <p:cNvSpPr>
            <a:spLocks noGrp="1"/>
          </p:cNvSpPr>
          <p:nvPr>
            <p:ph idx="1"/>
          </p:nvPr>
        </p:nvSpPr>
        <p:spPr/>
        <p:txBody>
          <a:bodyPr>
            <a:normAutofit fontScale="92500"/>
          </a:bodyPr>
          <a:lstStyle/>
          <a:p>
            <a:r>
              <a:rPr lang="en-US" dirty="0"/>
              <a:t>More advanced GUI design and layout improvements</a:t>
            </a:r>
          </a:p>
          <a:p>
            <a:r>
              <a:rPr lang="en-US" dirty="0"/>
              <a:t>Better error handling and user feedback in the editor</a:t>
            </a:r>
          </a:p>
          <a:p>
            <a:r>
              <a:rPr lang="en-US" dirty="0"/>
              <a:t>Additional unit tests and test coverage reporting</a:t>
            </a:r>
          </a:p>
          <a:p>
            <a:r>
              <a:rPr lang="en-US" dirty="0"/>
              <a:t>More detailed input validation in parsers and GUI</a:t>
            </a:r>
          </a:p>
          <a:p>
            <a:r>
              <a:rPr lang="en-US" dirty="0"/>
              <a:t>Clearer separation between UI and controller logic</a:t>
            </a:r>
          </a:p>
          <a:p>
            <a:r>
              <a:rPr lang="en-US" dirty="0"/>
              <a:t>Improved time management for optional features</a:t>
            </a:r>
          </a:p>
          <a:p>
            <a:endParaRPr lang="en-US" dirty="0"/>
          </a:p>
        </p:txBody>
      </p:sp>
    </p:spTree>
    <p:extLst>
      <p:ext uri="{BB962C8B-B14F-4D97-AF65-F5344CB8AC3E}">
        <p14:creationId xmlns:p14="http://schemas.microsoft.com/office/powerpoint/2010/main" val="268472710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Verve">
  <a:themeElements>
    <a:clrScheme name="Custom 48">
      <a:dk1>
        <a:sysClr val="windowText" lastClr="000000"/>
      </a:dk1>
      <a:lt1>
        <a:sysClr val="window" lastClr="FFFFFF"/>
      </a:lt1>
      <a:dk2>
        <a:srgbClr val="262626"/>
      </a:dk2>
      <a:lt2>
        <a:srgbClr val="F2F2F2"/>
      </a:lt2>
      <a:accent1>
        <a:srgbClr val="C94C25"/>
      </a:accent1>
      <a:accent2>
        <a:srgbClr val="EA8640"/>
      </a:accent2>
      <a:accent3>
        <a:srgbClr val="99D9E7"/>
      </a:accent3>
      <a:accent4>
        <a:srgbClr val="FAB17B"/>
      </a:accent4>
      <a:accent5>
        <a:srgbClr val="21B8B3"/>
      </a:accent5>
      <a:accent6>
        <a:srgbClr val="F3786E"/>
      </a:accent6>
      <a:hlink>
        <a:srgbClr val="646567"/>
      </a:hlink>
      <a:folHlink>
        <a:srgbClr val="646567"/>
      </a:folHlink>
    </a:clrScheme>
    <a:fontScheme name="Custom 27">
      <a:majorFont>
        <a:latin typeface="Segoe UI"/>
        <a:ea typeface=""/>
        <a:cs typeface=""/>
      </a:majorFont>
      <a:minorFont>
        <a:latin typeface="Arial"/>
        <a:ea typeface=""/>
        <a:cs typeface=""/>
      </a:minorFont>
    </a:fontScheme>
    <a:fmtScheme name="Verve">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110000" t="250000" r="110000" b="40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110000" t="250000" r="110000" b="40000"/>
          </a:path>
        </a:gradFill>
      </a:fillStyleLst>
      <a:lnStyleLst>
        <a:ln w="9525" cap="flat" cmpd="sng" algn="ctr">
          <a:solidFill>
            <a:schemeClr val="phClr">
              <a:satMod val="12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0800" dist="38100" dir="14700000" algn="t" rotWithShape="0">
              <a:srgbClr val="000000">
                <a:alpha val="60000"/>
              </a:srgbClr>
            </a:outerShdw>
          </a:effectLst>
          <a:scene3d>
            <a:camera prst="orthographicFront" fov="0">
              <a:rot lat="0" lon="0" rev="0"/>
            </a:camera>
            <a:lightRig rig="contrasting" dir="t">
              <a:rot lat="0" lon="0" rev="3600000"/>
            </a:lightRig>
          </a:scene3d>
          <a:sp3d prstMaterial="plastic">
            <a:bevelT w="127000" h="38200" prst="relaxedInset"/>
            <a:contourClr>
              <a:schemeClr val="phClr"/>
            </a:contourClr>
          </a:sp3d>
        </a:effectStyle>
      </a:effectStyleLst>
      <a:bgFillStyleLst>
        <a:solidFill>
          <a:schemeClr val="phClr"/>
        </a:solidFill>
        <a:gradFill rotWithShape="1">
          <a:gsLst>
            <a:gs pos="0">
              <a:schemeClr val="phClr">
                <a:shade val="48000"/>
                <a:satMod val="230000"/>
              </a:schemeClr>
            </a:gs>
            <a:gs pos="60000">
              <a:schemeClr val="phClr">
                <a:shade val="92000"/>
                <a:satMod val="230000"/>
              </a:schemeClr>
            </a:gs>
            <a:gs pos="100000">
              <a:schemeClr val="phClr">
                <a:tint val="85000"/>
                <a:satMod val="400000"/>
              </a:schemeClr>
            </a:gs>
          </a:gsLst>
          <a:lin ang="5400000" scaled="0"/>
        </a:gradFill>
        <a:blipFill>
          <a:blip xmlns:r="http://schemas.openxmlformats.org/officeDocument/2006/relationships" r:embed="rId1">
            <a:duotone>
              <a:schemeClr val="phClr">
                <a:shade val="70000"/>
                <a:satMod val="130000"/>
              </a:schemeClr>
              <a:schemeClr val="phClr">
                <a:tint val="70000"/>
                <a:satMod val="130000"/>
              </a:schemeClr>
            </a:duotone>
          </a:blip>
          <a:tile tx="0" ty="0" sx="90000" sy="90000" flip="none" algn="t"/>
        </a:blipFill>
      </a:bgFillStyleLst>
    </a:fmtScheme>
  </a:themeElements>
  <a:objectDefaults/>
  <a:extraClrSchemeLst/>
  <a:extLst>
    <a:ext uri="{05A4C25C-085E-4340-85A3-A5531E510DB2}">
      <thm15:themeFamily xmlns:thm15="http://schemas.microsoft.com/office/thememl/2012/main" name="TM10167107 - Reporting progress or status presentation - NEW.potx" id="{24ADC811-FCB2-4A9B-852A-BB14EA0B4C87}" vid="{F865C24B-81F8-4D59-BA13-A775229E76B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Verve</Template>
  <TotalTime>266</TotalTime>
  <Words>1391</Words>
  <Application>Microsoft Macintosh PowerPoint</Application>
  <PresentationFormat>On-screen Show (4:3)</PresentationFormat>
  <Paragraphs>121</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Segoe UI</vt:lpstr>
      <vt:lpstr>Wingdings 2</vt:lpstr>
      <vt:lpstr>Verve</vt:lpstr>
      <vt:lpstr>Schema2Script</vt:lpstr>
      <vt:lpstr>OUTLINE</vt:lpstr>
      <vt:lpstr>Project Overview</vt:lpstr>
      <vt:lpstr>Demonstration</vt:lpstr>
      <vt:lpstr>Abstracted Input</vt:lpstr>
      <vt:lpstr>Abstracted Output</vt:lpstr>
      <vt:lpstr>Class Diagram</vt:lpstr>
      <vt:lpstr>Sequence Diagram</vt:lpstr>
      <vt:lpstr>SonarQube Analysis</vt:lpstr>
      <vt:lpstr>Reflection – What Is Missing</vt:lpstr>
      <vt:lpstr>Reflection – What We Are Most Proud Of </vt:lpstr>
      <vt:lpstr>Reflection – What Could Have Been Done Better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Reporting Progress or Status</dc:title>
  <dc:creator>Microsoft Office User</dc:creator>
  <cp:lastModifiedBy>Nik Kaucic (RIT Student)</cp:lastModifiedBy>
  <cp:revision>25</cp:revision>
  <dcterms:created xsi:type="dcterms:W3CDTF">2018-12-05T08:19:50Z</dcterms:created>
  <dcterms:modified xsi:type="dcterms:W3CDTF">2025-11-30T17:05:18Z</dcterms:modified>
</cp:coreProperties>
</file>